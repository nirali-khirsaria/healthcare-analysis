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72" r:id="rId4"/>
    <p:sldId id="259" r:id="rId5"/>
    <p:sldId id="271" r:id="rId6"/>
    <p:sldId id="273" r:id="rId7"/>
    <p:sldId id="258" r:id="rId8"/>
    <p:sldId id="268" r:id="rId9"/>
    <p:sldId id="279" r:id="rId10"/>
    <p:sldId id="280" r:id="rId11"/>
    <p:sldId id="274" r:id="rId12"/>
    <p:sldId id="275" r:id="rId13"/>
    <p:sldId id="282" r:id="rId14"/>
    <p:sldId id="276" r:id="rId15"/>
    <p:sldId id="281" r:id="rId16"/>
    <p:sldId id="277" r:id="rId17"/>
    <p:sldId id="283" r:id="rId18"/>
    <p:sldId id="278" r:id="rId19"/>
    <p:sldId id="267" r:id="rId20"/>
  </p:sldIdLst>
  <p:sldSz cx="18288000" cy="10287000"/>
  <p:notesSz cx="6858000" cy="9144000"/>
  <p:embeddedFontLst>
    <p:embeddedFont>
      <p:font typeface="Bobby Jones" panose="020B0604020202020204" charset="0"/>
      <p:regular r:id="rId21"/>
    </p:embeddedFont>
    <p:embeddedFont>
      <p:font typeface="Handy Casual"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8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AE78A9-EF87-43AD-BCB3-C01AE29A4B70}" v="1" dt="2024-04-18T21:02:47.537"/>
    <p1510:client id="{E80B8EA8-79C7-4DE5-ADD7-9FF4D5C23465}" v="18" dt="2024-04-17T22:45:30.7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4" d="100"/>
          <a:sy n="74" d="100"/>
        </p:scale>
        <p:origin x="534"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upali Dave" userId="25e741af8f57b025" providerId="LiveId" clId="{DBAE78A9-EF87-43AD-BCB3-C01AE29A4B70}"/>
    <pc:docChg chg="undo custSel addSld modSld sldOrd">
      <pc:chgData name="Krupali Dave" userId="25e741af8f57b025" providerId="LiveId" clId="{DBAE78A9-EF87-43AD-BCB3-C01AE29A4B70}" dt="2024-04-18T21:08:52.864" v="92" actId="14100"/>
      <pc:docMkLst>
        <pc:docMk/>
      </pc:docMkLst>
      <pc:sldChg chg="addSp modSp mod">
        <pc:chgData name="Krupali Dave" userId="25e741af8f57b025" providerId="LiveId" clId="{DBAE78A9-EF87-43AD-BCB3-C01AE29A4B70}" dt="2024-04-18T21:03:20.401" v="62" actId="1076"/>
        <pc:sldMkLst>
          <pc:docMk/>
          <pc:sldMk cId="0" sldId="256"/>
        </pc:sldMkLst>
        <pc:spChg chg="add mod">
          <ac:chgData name="Krupali Dave" userId="25e741af8f57b025" providerId="LiveId" clId="{DBAE78A9-EF87-43AD-BCB3-C01AE29A4B70}" dt="2024-04-18T21:03:11.650" v="60" actId="207"/>
          <ac:spMkLst>
            <pc:docMk/>
            <pc:sldMk cId="0" sldId="256"/>
            <ac:spMk id="2" creationId="{FDC1E470-0B15-7309-C770-892789D44A6F}"/>
          </ac:spMkLst>
        </pc:spChg>
        <pc:spChg chg="mod">
          <ac:chgData name="Krupali Dave" userId="25e741af8f57b025" providerId="LiveId" clId="{DBAE78A9-EF87-43AD-BCB3-C01AE29A4B70}" dt="2024-04-18T21:03:16.415" v="61" actId="1076"/>
          <ac:spMkLst>
            <pc:docMk/>
            <pc:sldMk cId="0" sldId="256"/>
            <ac:spMk id="19" creationId="{00000000-0000-0000-0000-000000000000}"/>
          </ac:spMkLst>
        </pc:spChg>
        <pc:spChg chg="mod">
          <ac:chgData name="Krupali Dave" userId="25e741af8f57b025" providerId="LiveId" clId="{DBAE78A9-EF87-43AD-BCB3-C01AE29A4B70}" dt="2024-04-18T21:03:20.401" v="62" actId="1076"/>
          <ac:spMkLst>
            <pc:docMk/>
            <pc:sldMk cId="0" sldId="256"/>
            <ac:spMk id="22" creationId="{8E913028-C4FD-C711-4274-55D021076A23}"/>
          </ac:spMkLst>
        </pc:spChg>
      </pc:sldChg>
      <pc:sldChg chg="modSp mod">
        <pc:chgData name="Krupali Dave" userId="25e741af8f57b025" providerId="LiveId" clId="{DBAE78A9-EF87-43AD-BCB3-C01AE29A4B70}" dt="2024-04-18T21:02:35.458" v="44" actId="1076"/>
        <pc:sldMkLst>
          <pc:docMk/>
          <pc:sldMk cId="0" sldId="267"/>
        </pc:sldMkLst>
        <pc:spChg chg="mod">
          <ac:chgData name="Krupali Dave" userId="25e741af8f57b025" providerId="LiveId" clId="{DBAE78A9-EF87-43AD-BCB3-C01AE29A4B70}" dt="2024-04-18T21:02:35.458" v="44" actId="1076"/>
          <ac:spMkLst>
            <pc:docMk/>
            <pc:sldMk cId="0" sldId="267"/>
            <ac:spMk id="13" creationId="{00000000-0000-0000-0000-000000000000}"/>
          </ac:spMkLst>
        </pc:spChg>
      </pc:sldChg>
      <pc:sldChg chg="modSp mod">
        <pc:chgData name="Krupali Dave" userId="25e741af8f57b025" providerId="LiveId" clId="{DBAE78A9-EF87-43AD-BCB3-C01AE29A4B70}" dt="2024-04-18T17:41:18.038" v="31" actId="404"/>
        <pc:sldMkLst>
          <pc:docMk/>
          <pc:sldMk cId="3557526741" sldId="268"/>
        </pc:sldMkLst>
        <pc:spChg chg="mod">
          <ac:chgData name="Krupali Dave" userId="25e741af8f57b025" providerId="LiveId" clId="{DBAE78A9-EF87-43AD-BCB3-C01AE29A4B70}" dt="2024-04-18T17:41:18.038" v="31" actId="404"/>
          <ac:spMkLst>
            <pc:docMk/>
            <pc:sldMk cId="3557526741" sldId="268"/>
            <ac:spMk id="5" creationId="{393CD136-6EF2-2565-4DC2-6E0B39474ECA}"/>
          </ac:spMkLst>
        </pc:spChg>
      </pc:sldChg>
      <pc:sldChg chg="addSp delSp modSp mod modShow">
        <pc:chgData name="Krupali Dave" userId="25e741af8f57b025" providerId="LiveId" clId="{DBAE78A9-EF87-43AD-BCB3-C01AE29A4B70}" dt="2024-04-18T21:07:09.333" v="81" actId="14100"/>
        <pc:sldMkLst>
          <pc:docMk/>
          <pc:sldMk cId="647957702" sldId="274"/>
        </pc:sldMkLst>
        <pc:picChg chg="del">
          <ac:chgData name="Krupali Dave" userId="25e741af8f57b025" providerId="LiveId" clId="{DBAE78A9-EF87-43AD-BCB3-C01AE29A4B70}" dt="2024-04-18T21:05:19.844" v="70" actId="478"/>
          <ac:picMkLst>
            <pc:docMk/>
            <pc:sldMk cId="647957702" sldId="274"/>
            <ac:picMk id="3" creationId="{C494A61E-6D1E-FCD1-0243-A3F4C9D324B1}"/>
          </ac:picMkLst>
        </pc:picChg>
        <pc:picChg chg="add mod">
          <ac:chgData name="Krupali Dave" userId="25e741af8f57b025" providerId="LiveId" clId="{DBAE78A9-EF87-43AD-BCB3-C01AE29A4B70}" dt="2024-04-18T21:07:09.333" v="81" actId="14100"/>
          <ac:picMkLst>
            <pc:docMk/>
            <pc:sldMk cId="647957702" sldId="274"/>
            <ac:picMk id="4" creationId="{5DB99A0A-A1B6-426A-C442-1EEAF2EB9EFC}"/>
          </ac:picMkLst>
        </pc:picChg>
      </pc:sldChg>
      <pc:sldChg chg="addSp delSp modSp mod modShow">
        <pc:chgData name="Krupali Dave" userId="25e741af8f57b025" providerId="LiveId" clId="{DBAE78A9-EF87-43AD-BCB3-C01AE29A4B70}" dt="2024-04-18T21:07:05.205" v="80" actId="14100"/>
        <pc:sldMkLst>
          <pc:docMk/>
          <pc:sldMk cId="2215230049" sldId="275"/>
        </pc:sldMkLst>
        <pc:picChg chg="del">
          <ac:chgData name="Krupali Dave" userId="25e741af8f57b025" providerId="LiveId" clId="{DBAE78A9-EF87-43AD-BCB3-C01AE29A4B70}" dt="2024-04-18T21:05:56.762" v="75" actId="478"/>
          <ac:picMkLst>
            <pc:docMk/>
            <pc:sldMk cId="2215230049" sldId="275"/>
            <ac:picMk id="3" creationId="{839D5229-C9BD-0723-26AF-7348DF1EAAF7}"/>
          </ac:picMkLst>
        </pc:picChg>
        <pc:picChg chg="add mod">
          <ac:chgData name="Krupali Dave" userId="25e741af8f57b025" providerId="LiveId" clId="{DBAE78A9-EF87-43AD-BCB3-C01AE29A4B70}" dt="2024-04-18T21:07:05.205" v="80" actId="14100"/>
          <ac:picMkLst>
            <pc:docMk/>
            <pc:sldMk cId="2215230049" sldId="275"/>
            <ac:picMk id="4" creationId="{8906C7E8-309D-9212-5AC3-25FF7989C28B}"/>
          </ac:picMkLst>
        </pc:picChg>
      </pc:sldChg>
      <pc:sldChg chg="modSp mod">
        <pc:chgData name="Krupali Dave" userId="25e741af8f57b025" providerId="LiveId" clId="{DBAE78A9-EF87-43AD-BCB3-C01AE29A4B70}" dt="2024-04-18T17:39:09.134" v="9" actId="404"/>
        <pc:sldMkLst>
          <pc:docMk/>
          <pc:sldMk cId="753171119" sldId="276"/>
        </pc:sldMkLst>
        <pc:spChg chg="mod">
          <ac:chgData name="Krupali Dave" userId="25e741af8f57b025" providerId="LiveId" clId="{DBAE78A9-EF87-43AD-BCB3-C01AE29A4B70}" dt="2024-04-18T17:39:09.134" v="9" actId="404"/>
          <ac:spMkLst>
            <pc:docMk/>
            <pc:sldMk cId="753171119" sldId="276"/>
            <ac:spMk id="3" creationId="{99D276B0-C9B4-4217-6901-86A73F756969}"/>
          </ac:spMkLst>
        </pc:spChg>
      </pc:sldChg>
      <pc:sldChg chg="addSp modSp mod modShow">
        <pc:chgData name="Krupali Dave" userId="25e741af8f57b025" providerId="LiveId" clId="{DBAE78A9-EF87-43AD-BCB3-C01AE29A4B70}" dt="2024-04-18T21:02:11.086" v="43" actId="14100"/>
        <pc:sldMkLst>
          <pc:docMk/>
          <pc:sldMk cId="4044643142" sldId="277"/>
        </pc:sldMkLst>
        <pc:picChg chg="add mod">
          <ac:chgData name="Krupali Dave" userId="25e741af8f57b025" providerId="LiveId" clId="{DBAE78A9-EF87-43AD-BCB3-C01AE29A4B70}" dt="2024-04-18T21:02:11.086" v="43" actId="14100"/>
          <ac:picMkLst>
            <pc:docMk/>
            <pc:sldMk cId="4044643142" sldId="277"/>
            <ac:picMk id="3" creationId="{763A54BA-0DF3-37EF-CBB0-2D903760A02B}"/>
          </ac:picMkLst>
        </pc:picChg>
      </pc:sldChg>
      <pc:sldChg chg="modSp mod">
        <pc:chgData name="Krupali Dave" userId="25e741af8f57b025" providerId="LiveId" clId="{DBAE78A9-EF87-43AD-BCB3-C01AE29A4B70}" dt="2024-04-18T17:40:12.048" v="14" actId="403"/>
        <pc:sldMkLst>
          <pc:docMk/>
          <pc:sldMk cId="1195576357" sldId="278"/>
        </pc:sldMkLst>
        <pc:spChg chg="mod">
          <ac:chgData name="Krupali Dave" userId="25e741af8f57b025" providerId="LiveId" clId="{DBAE78A9-EF87-43AD-BCB3-C01AE29A4B70}" dt="2024-04-18T17:40:12.048" v="14" actId="403"/>
          <ac:spMkLst>
            <pc:docMk/>
            <pc:sldMk cId="1195576357" sldId="278"/>
            <ac:spMk id="2" creationId="{12181784-45CE-62EC-B217-5828EEEAE5A8}"/>
          </ac:spMkLst>
        </pc:spChg>
      </pc:sldChg>
      <pc:sldChg chg="addSp delSp modSp mod">
        <pc:chgData name="Krupali Dave" userId="25e741af8f57b025" providerId="LiveId" clId="{DBAE78A9-EF87-43AD-BCB3-C01AE29A4B70}" dt="2024-04-18T21:04:49.909" v="69" actId="14100"/>
        <pc:sldMkLst>
          <pc:docMk/>
          <pc:sldMk cId="1904828909" sldId="279"/>
        </pc:sldMkLst>
        <pc:spChg chg="mod">
          <ac:chgData name="Krupali Dave" userId="25e741af8f57b025" providerId="LiveId" clId="{DBAE78A9-EF87-43AD-BCB3-C01AE29A4B70}" dt="2024-04-18T17:40:51.081" v="24" actId="403"/>
          <ac:spMkLst>
            <pc:docMk/>
            <pc:sldMk cId="1904828909" sldId="279"/>
            <ac:spMk id="14" creationId="{1AC0C322-F42C-40FD-9201-C326330281D0}"/>
          </ac:spMkLst>
        </pc:spChg>
        <pc:spChg chg="mod">
          <ac:chgData name="Krupali Dave" userId="25e741af8f57b025" providerId="LiveId" clId="{DBAE78A9-EF87-43AD-BCB3-C01AE29A4B70}" dt="2024-04-18T21:04:44.870" v="68" actId="6549"/>
          <ac:spMkLst>
            <pc:docMk/>
            <pc:sldMk cId="1904828909" sldId="279"/>
            <ac:spMk id="15" creationId="{826285B8-5D07-A12F-0A77-4799D700D906}"/>
          </ac:spMkLst>
        </pc:spChg>
        <pc:picChg chg="add mod">
          <ac:chgData name="Krupali Dave" userId="25e741af8f57b025" providerId="LiveId" clId="{DBAE78A9-EF87-43AD-BCB3-C01AE29A4B70}" dt="2024-04-18T21:04:38.163" v="67" actId="14100"/>
          <ac:picMkLst>
            <pc:docMk/>
            <pc:sldMk cId="1904828909" sldId="279"/>
            <ac:picMk id="3" creationId="{57D015CF-97F0-D113-824E-C1934BC2E1C9}"/>
          </ac:picMkLst>
        </pc:picChg>
        <pc:picChg chg="mod">
          <ac:chgData name="Krupali Dave" userId="25e741af8f57b025" providerId="LiveId" clId="{DBAE78A9-EF87-43AD-BCB3-C01AE29A4B70}" dt="2024-04-18T21:04:49.909" v="69" actId="14100"/>
          <ac:picMkLst>
            <pc:docMk/>
            <pc:sldMk cId="1904828909" sldId="279"/>
            <ac:picMk id="6" creationId="{050336DF-C1EB-2E61-E3E0-9A7F3EA29B9D}"/>
          </ac:picMkLst>
        </pc:picChg>
        <pc:picChg chg="del mod">
          <ac:chgData name="Krupali Dave" userId="25e741af8f57b025" providerId="LiveId" clId="{DBAE78A9-EF87-43AD-BCB3-C01AE29A4B70}" dt="2024-04-18T21:04:28.427" v="63" actId="478"/>
          <ac:picMkLst>
            <pc:docMk/>
            <pc:sldMk cId="1904828909" sldId="279"/>
            <ac:picMk id="18" creationId="{4A679C76-39E5-9628-09B0-1E8B45CBB218}"/>
          </ac:picMkLst>
        </pc:picChg>
      </pc:sldChg>
      <pc:sldChg chg="modSp mod ord">
        <pc:chgData name="Krupali Dave" userId="25e741af8f57b025" providerId="LiveId" clId="{DBAE78A9-EF87-43AD-BCB3-C01AE29A4B70}" dt="2024-04-18T21:02:39.387" v="47" actId="20578"/>
        <pc:sldMkLst>
          <pc:docMk/>
          <pc:sldMk cId="2512393695" sldId="280"/>
        </pc:sldMkLst>
        <pc:spChg chg="mod">
          <ac:chgData name="Krupali Dave" userId="25e741af8f57b025" providerId="LiveId" clId="{DBAE78A9-EF87-43AD-BCB3-C01AE29A4B70}" dt="2024-04-18T17:40:38.971" v="21" actId="403"/>
          <ac:spMkLst>
            <pc:docMk/>
            <pc:sldMk cId="2512393695" sldId="280"/>
            <ac:spMk id="5" creationId="{DF075D12-80B8-F589-C8E6-848E95B618E5}"/>
          </ac:spMkLst>
        </pc:spChg>
      </pc:sldChg>
      <pc:sldChg chg="modSp mod">
        <pc:chgData name="Krupali Dave" userId="25e741af8f57b025" providerId="LiveId" clId="{DBAE78A9-EF87-43AD-BCB3-C01AE29A4B70}" dt="2024-04-18T17:38:51.646" v="3" actId="403"/>
        <pc:sldMkLst>
          <pc:docMk/>
          <pc:sldMk cId="2941289294" sldId="281"/>
        </pc:sldMkLst>
        <pc:spChg chg="mod">
          <ac:chgData name="Krupali Dave" userId="25e741af8f57b025" providerId="LiveId" clId="{DBAE78A9-EF87-43AD-BCB3-C01AE29A4B70}" dt="2024-04-18T17:38:51.646" v="3" actId="403"/>
          <ac:spMkLst>
            <pc:docMk/>
            <pc:sldMk cId="2941289294" sldId="281"/>
            <ac:spMk id="7" creationId="{C08C3044-206D-F0AA-7818-25B5248A0143}"/>
          </ac:spMkLst>
        </pc:spChg>
      </pc:sldChg>
      <pc:sldChg chg="addSp delSp modSp mod modShow">
        <pc:chgData name="Krupali Dave" userId="25e741af8f57b025" providerId="LiveId" clId="{DBAE78A9-EF87-43AD-BCB3-C01AE29A4B70}" dt="2024-04-18T21:08:52.864" v="92" actId="14100"/>
        <pc:sldMkLst>
          <pc:docMk/>
          <pc:sldMk cId="3283067003" sldId="282"/>
        </pc:sldMkLst>
        <pc:picChg chg="del">
          <ac:chgData name="Krupali Dave" userId="25e741af8f57b025" providerId="LiveId" clId="{DBAE78A9-EF87-43AD-BCB3-C01AE29A4B70}" dt="2024-04-18T21:07:13.552" v="82" actId="478"/>
          <ac:picMkLst>
            <pc:docMk/>
            <pc:sldMk cId="3283067003" sldId="282"/>
            <ac:picMk id="3" creationId="{B2E3FF10-B535-0175-DDFE-6327A445C16B}"/>
          </ac:picMkLst>
        </pc:picChg>
        <pc:picChg chg="add del mod">
          <ac:chgData name="Krupali Dave" userId="25e741af8f57b025" providerId="LiveId" clId="{DBAE78A9-EF87-43AD-BCB3-C01AE29A4B70}" dt="2024-04-18T21:08:41.700" v="87" actId="478"/>
          <ac:picMkLst>
            <pc:docMk/>
            <pc:sldMk cId="3283067003" sldId="282"/>
            <ac:picMk id="4" creationId="{1737DAB9-CCE2-816E-7A1F-D4889E895534}"/>
          </ac:picMkLst>
        </pc:picChg>
        <pc:picChg chg="add mod">
          <ac:chgData name="Krupali Dave" userId="25e741af8f57b025" providerId="LiveId" clId="{DBAE78A9-EF87-43AD-BCB3-C01AE29A4B70}" dt="2024-04-18T21:08:52.864" v="92" actId="14100"/>
          <ac:picMkLst>
            <pc:docMk/>
            <pc:sldMk cId="3283067003" sldId="282"/>
            <ac:picMk id="6" creationId="{AC133B4F-4F31-383A-F5AC-C7B7116D54A1}"/>
          </ac:picMkLst>
        </pc:picChg>
      </pc:sldChg>
      <pc:sldChg chg="addSp modSp add mod">
        <pc:chgData name="Krupali Dave" userId="25e741af8f57b025" providerId="LiveId" clId="{DBAE78A9-EF87-43AD-BCB3-C01AE29A4B70}" dt="2024-04-18T21:01:39.199" v="39" actId="14100"/>
        <pc:sldMkLst>
          <pc:docMk/>
          <pc:sldMk cId="2388188770" sldId="283"/>
        </pc:sldMkLst>
        <pc:picChg chg="add mod">
          <ac:chgData name="Krupali Dave" userId="25e741af8f57b025" providerId="LiveId" clId="{DBAE78A9-EF87-43AD-BCB3-C01AE29A4B70}" dt="2024-04-18T21:01:39.199" v="39" actId="14100"/>
          <ac:picMkLst>
            <pc:docMk/>
            <pc:sldMk cId="2388188770" sldId="283"/>
            <ac:picMk id="3" creationId="{B41A9A2B-823A-E865-B2A9-EE437C3E6FD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7.svg"/><Relationship Id="rId7" Type="http://schemas.openxmlformats.org/officeDocument/2006/relationships/image" Target="../media/image19.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21.sv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8.sv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5.sv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35.svg"/><Relationship Id="rId4" Type="http://schemas.openxmlformats.org/officeDocument/2006/relationships/image" Target="../media/image34.png"/><Relationship Id="rId9"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8" name="Freeform 8"/>
          <p:cNvSpPr/>
          <p:nvPr/>
        </p:nvSpPr>
        <p:spPr>
          <a:xfrm>
            <a:off x="6818270" y="438510"/>
            <a:ext cx="4490538" cy="3984332"/>
          </a:xfrm>
          <a:custGeom>
            <a:avLst/>
            <a:gdLst/>
            <a:ahLst/>
            <a:cxnLst/>
            <a:rect l="l" t="t" r="r" b="b"/>
            <a:pathLst>
              <a:path w="4490538" h="3984332">
                <a:moveTo>
                  <a:pt x="0" y="0"/>
                </a:moveTo>
                <a:lnTo>
                  <a:pt x="4490538" y="0"/>
                </a:lnTo>
                <a:lnTo>
                  <a:pt x="4490538" y="3984332"/>
                </a:lnTo>
                <a:lnTo>
                  <a:pt x="0" y="39843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1" name="Freeform 11"/>
          <p:cNvSpPr/>
          <p:nvPr/>
        </p:nvSpPr>
        <p:spPr>
          <a:xfrm>
            <a:off x="1501687" y="7620047"/>
            <a:ext cx="1257673" cy="1257673"/>
          </a:xfrm>
          <a:custGeom>
            <a:avLst/>
            <a:gdLst/>
            <a:ahLst/>
            <a:cxnLst/>
            <a:rect l="l" t="t" r="r" b="b"/>
            <a:pathLst>
              <a:path w="1257673" h="1257673">
                <a:moveTo>
                  <a:pt x="0" y="0"/>
                </a:moveTo>
                <a:lnTo>
                  <a:pt x="1257673" y="0"/>
                </a:lnTo>
                <a:lnTo>
                  <a:pt x="1257673" y="1257673"/>
                </a:lnTo>
                <a:lnTo>
                  <a:pt x="0" y="12576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Freeform 12"/>
          <p:cNvSpPr/>
          <p:nvPr/>
        </p:nvSpPr>
        <p:spPr>
          <a:xfrm>
            <a:off x="12039600" y="892525"/>
            <a:ext cx="1257673" cy="1257673"/>
          </a:xfrm>
          <a:custGeom>
            <a:avLst/>
            <a:gdLst/>
            <a:ahLst/>
            <a:cxnLst/>
            <a:rect l="l" t="t" r="r" b="b"/>
            <a:pathLst>
              <a:path w="1257673" h="1257673">
                <a:moveTo>
                  <a:pt x="0" y="0"/>
                </a:moveTo>
                <a:lnTo>
                  <a:pt x="1257673" y="0"/>
                </a:lnTo>
                <a:lnTo>
                  <a:pt x="1257673" y="1257673"/>
                </a:lnTo>
                <a:lnTo>
                  <a:pt x="0" y="12576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4" name="Freeform 14"/>
          <p:cNvSpPr/>
          <p:nvPr/>
        </p:nvSpPr>
        <p:spPr>
          <a:xfrm>
            <a:off x="495114" y="438510"/>
            <a:ext cx="908030" cy="908030"/>
          </a:xfrm>
          <a:custGeom>
            <a:avLst/>
            <a:gdLst/>
            <a:ahLst/>
            <a:cxnLst/>
            <a:rect l="l" t="t" r="r" b="b"/>
            <a:pathLst>
              <a:path w="908030" h="908030">
                <a:moveTo>
                  <a:pt x="0" y="0"/>
                </a:moveTo>
                <a:lnTo>
                  <a:pt x="908030" y="0"/>
                </a:lnTo>
                <a:lnTo>
                  <a:pt x="908030" y="908030"/>
                </a:lnTo>
                <a:lnTo>
                  <a:pt x="0" y="9080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5" name="Freeform 15"/>
          <p:cNvSpPr/>
          <p:nvPr/>
        </p:nvSpPr>
        <p:spPr>
          <a:xfrm>
            <a:off x="14375720" y="4007640"/>
            <a:ext cx="908030" cy="908030"/>
          </a:xfrm>
          <a:custGeom>
            <a:avLst/>
            <a:gdLst/>
            <a:ahLst/>
            <a:cxnLst/>
            <a:rect l="l" t="t" r="r" b="b"/>
            <a:pathLst>
              <a:path w="908030" h="908030">
                <a:moveTo>
                  <a:pt x="0" y="0"/>
                </a:moveTo>
                <a:lnTo>
                  <a:pt x="908031" y="0"/>
                </a:lnTo>
                <a:lnTo>
                  <a:pt x="908031" y="908030"/>
                </a:lnTo>
                <a:lnTo>
                  <a:pt x="0" y="9080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6" name="Freeform 16"/>
          <p:cNvSpPr/>
          <p:nvPr/>
        </p:nvSpPr>
        <p:spPr>
          <a:xfrm>
            <a:off x="16584481" y="9325875"/>
            <a:ext cx="908030" cy="908030"/>
          </a:xfrm>
          <a:custGeom>
            <a:avLst/>
            <a:gdLst/>
            <a:ahLst/>
            <a:cxnLst/>
            <a:rect l="l" t="t" r="r" b="b"/>
            <a:pathLst>
              <a:path w="908030" h="908030">
                <a:moveTo>
                  <a:pt x="0" y="0"/>
                </a:moveTo>
                <a:lnTo>
                  <a:pt x="908030" y="0"/>
                </a:lnTo>
                <a:lnTo>
                  <a:pt x="908030" y="908031"/>
                </a:lnTo>
                <a:lnTo>
                  <a:pt x="0" y="9080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9" name="TextBox 19"/>
          <p:cNvSpPr txBox="1"/>
          <p:nvPr/>
        </p:nvSpPr>
        <p:spPr>
          <a:xfrm>
            <a:off x="1480574" y="5117426"/>
            <a:ext cx="15739911" cy="1449115"/>
          </a:xfrm>
          <a:prstGeom prst="rect">
            <a:avLst/>
          </a:prstGeom>
        </p:spPr>
        <p:txBody>
          <a:bodyPr wrap="square" lIns="0" tIns="0" rIns="0" bIns="0" rtlCol="0" anchor="t">
            <a:spAutoFit/>
          </a:bodyPr>
          <a:lstStyle/>
          <a:p>
            <a:pPr algn="ctr">
              <a:lnSpc>
                <a:spcPts val="11340"/>
              </a:lnSpc>
              <a:spcBef>
                <a:spcPct val="0"/>
              </a:spcBef>
            </a:pPr>
            <a:r>
              <a:rPr lang="en-US" sz="9600" dirty="0">
                <a:solidFill>
                  <a:srgbClr val="A15C64"/>
                </a:solidFill>
                <a:latin typeface="Bobby Jones"/>
              </a:rPr>
              <a:t>Global Life Expectancy</a:t>
            </a:r>
          </a:p>
        </p:txBody>
      </p:sp>
      <p:sp>
        <p:nvSpPr>
          <p:cNvPr id="22" name="TextBox 19">
            <a:extLst>
              <a:ext uri="{FF2B5EF4-FFF2-40B4-BE49-F238E27FC236}">
                <a16:creationId xmlns:a16="http://schemas.microsoft.com/office/drawing/2014/main" id="{8E913028-C4FD-C711-4274-55D021076A23}"/>
              </a:ext>
            </a:extLst>
          </p:cNvPr>
          <p:cNvSpPr txBox="1"/>
          <p:nvPr/>
        </p:nvSpPr>
        <p:spPr>
          <a:xfrm>
            <a:off x="3172419" y="8387481"/>
            <a:ext cx="12356220" cy="1804340"/>
          </a:xfrm>
          <a:prstGeom prst="rect">
            <a:avLst/>
          </a:prstGeom>
        </p:spPr>
        <p:txBody>
          <a:bodyPr wrap="square" lIns="0" tIns="0" rIns="0" bIns="0" rtlCol="0" anchor="t">
            <a:spAutoFit/>
          </a:bodyPr>
          <a:lstStyle/>
          <a:p>
            <a:pPr algn="ctr">
              <a:lnSpc>
                <a:spcPts val="16206"/>
              </a:lnSpc>
              <a:spcBef>
                <a:spcPct val="0"/>
              </a:spcBef>
            </a:pPr>
            <a:r>
              <a:rPr lang="en-US" sz="8800" b="1" spc="150" dirty="0">
                <a:solidFill>
                  <a:srgbClr val="DB786C"/>
                </a:solidFill>
                <a:latin typeface="Handy Casual"/>
              </a:rPr>
              <a:t>HEALTHCARE Analytics </a:t>
            </a:r>
          </a:p>
        </p:txBody>
      </p:sp>
      <p:sp>
        <p:nvSpPr>
          <p:cNvPr id="2" name="TextBox 1">
            <a:extLst>
              <a:ext uri="{FF2B5EF4-FFF2-40B4-BE49-F238E27FC236}">
                <a16:creationId xmlns:a16="http://schemas.microsoft.com/office/drawing/2014/main" id="{FDC1E470-0B15-7309-C770-892789D44A6F}"/>
              </a:ext>
            </a:extLst>
          </p:cNvPr>
          <p:cNvSpPr txBox="1"/>
          <p:nvPr/>
        </p:nvSpPr>
        <p:spPr>
          <a:xfrm>
            <a:off x="7010400" y="6938570"/>
            <a:ext cx="3810000" cy="1446550"/>
          </a:xfrm>
          <a:prstGeom prst="rect">
            <a:avLst/>
          </a:prstGeom>
          <a:noFill/>
        </p:spPr>
        <p:txBody>
          <a:bodyPr wrap="square" rtlCol="0">
            <a:spAutoFit/>
          </a:bodyPr>
          <a:lstStyle/>
          <a:p>
            <a:endParaRPr lang="en-IN" sz="8800" b="1" spc="150" dirty="0">
              <a:solidFill>
                <a:schemeClr val="accent6">
                  <a:lumMod val="50000"/>
                </a:schemeClr>
              </a:solidFill>
              <a:latin typeface="Handy Casu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7" name="Freeform 7"/>
          <p:cNvSpPr/>
          <p:nvPr/>
        </p:nvSpPr>
        <p:spPr>
          <a:xfrm>
            <a:off x="494999" y="1876370"/>
            <a:ext cx="1257673" cy="1257673"/>
          </a:xfrm>
          <a:custGeom>
            <a:avLst/>
            <a:gdLst/>
            <a:ahLst/>
            <a:cxnLst/>
            <a:rect l="l" t="t" r="r" b="b"/>
            <a:pathLst>
              <a:path w="1257673" h="1257673">
                <a:moveTo>
                  <a:pt x="0" y="0"/>
                </a:moveTo>
                <a:lnTo>
                  <a:pt x="1257672" y="0"/>
                </a:lnTo>
                <a:lnTo>
                  <a:pt x="1257672" y="1257673"/>
                </a:lnTo>
                <a:lnTo>
                  <a:pt x="0" y="12576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8" name="Freeform 8"/>
          <p:cNvSpPr/>
          <p:nvPr/>
        </p:nvSpPr>
        <p:spPr>
          <a:xfrm>
            <a:off x="16630464" y="399864"/>
            <a:ext cx="1257673" cy="1257673"/>
          </a:xfrm>
          <a:custGeom>
            <a:avLst/>
            <a:gdLst/>
            <a:ahLst/>
            <a:cxnLst/>
            <a:rect l="l" t="t" r="r" b="b"/>
            <a:pathLst>
              <a:path w="1257673" h="1257673">
                <a:moveTo>
                  <a:pt x="0" y="0"/>
                </a:moveTo>
                <a:lnTo>
                  <a:pt x="1257672" y="0"/>
                </a:lnTo>
                <a:lnTo>
                  <a:pt x="1257672" y="1257672"/>
                </a:lnTo>
                <a:lnTo>
                  <a:pt x="0" y="12576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TextBox 9"/>
          <p:cNvSpPr txBox="1"/>
          <p:nvPr/>
        </p:nvSpPr>
        <p:spPr>
          <a:xfrm>
            <a:off x="1752672" y="-611728"/>
            <a:ext cx="7639859" cy="1817101"/>
          </a:xfrm>
          <a:prstGeom prst="rect">
            <a:avLst/>
          </a:prstGeom>
        </p:spPr>
        <p:txBody>
          <a:bodyPr wrap="square" lIns="0" tIns="0" rIns="0" bIns="0" rtlCol="0" anchor="t">
            <a:spAutoFit/>
          </a:bodyPr>
          <a:lstStyle/>
          <a:p>
            <a:pPr algn="ctr">
              <a:lnSpc>
                <a:spcPts val="16206"/>
              </a:lnSpc>
              <a:spcBef>
                <a:spcPct val="0"/>
              </a:spcBef>
            </a:pPr>
            <a:r>
              <a:rPr lang="en-US" sz="8800" dirty="0">
                <a:solidFill>
                  <a:srgbClr val="A15C64"/>
                </a:solidFill>
                <a:latin typeface="Bobby Jones"/>
              </a:rPr>
              <a:t>INTRODUCTION </a:t>
            </a:r>
            <a:endParaRPr lang="en-US" sz="11575" dirty="0">
              <a:solidFill>
                <a:srgbClr val="A15C64"/>
              </a:solidFill>
              <a:latin typeface="Bobby Jones"/>
            </a:endParaRPr>
          </a:p>
        </p:txBody>
      </p:sp>
      <p:sp>
        <p:nvSpPr>
          <p:cNvPr id="11" name="TextBox 11"/>
          <p:cNvSpPr txBox="1"/>
          <p:nvPr/>
        </p:nvSpPr>
        <p:spPr>
          <a:xfrm>
            <a:off x="2074894" y="1461723"/>
            <a:ext cx="13831421" cy="7363554"/>
          </a:xfrm>
          <a:prstGeom prst="rect">
            <a:avLst/>
          </a:prstGeom>
        </p:spPr>
        <p:txBody>
          <a:bodyPr wrap="square" lIns="0" tIns="0" rIns="0" bIns="0" rtlCol="0" anchor="t">
            <a:spAutoFit/>
          </a:bodyPr>
          <a:lstStyle/>
          <a:p>
            <a:pPr marL="647700" lvl="1" indent="-323850">
              <a:lnSpc>
                <a:spcPct val="150000"/>
              </a:lnSpc>
              <a:buFont typeface="Arial"/>
              <a:buChar char="•"/>
            </a:pPr>
            <a:r>
              <a:rPr lang="en-US" sz="3600" dirty="0">
                <a:solidFill>
                  <a:srgbClr val="A15C64"/>
                </a:solidFill>
                <a:latin typeface="Handy Casual"/>
              </a:rPr>
              <a:t>We've explored life expectancy records across countries and years, utilizing a dataset containing </a:t>
            </a:r>
            <a:r>
              <a:rPr lang="en-US" sz="3600" u="sng" dirty="0">
                <a:solidFill>
                  <a:srgbClr val="A15C64"/>
                </a:solidFill>
                <a:latin typeface="Handy Casual"/>
              </a:rPr>
              <a:t>1649 rows and 22 columns.</a:t>
            </a:r>
          </a:p>
          <a:p>
            <a:pPr marL="647700" lvl="1" indent="-323850">
              <a:lnSpc>
                <a:spcPct val="150000"/>
              </a:lnSpc>
              <a:buFont typeface="Arial"/>
              <a:buChar char="•"/>
            </a:pPr>
            <a:r>
              <a:rPr lang="en-US" sz="3600" dirty="0">
                <a:solidFill>
                  <a:srgbClr val="A15C64"/>
                </a:solidFill>
                <a:latin typeface="Handy Casual"/>
              </a:rPr>
              <a:t>Our dataset spans from </a:t>
            </a:r>
            <a:r>
              <a:rPr lang="en-US" sz="3600" u="sng" dirty="0">
                <a:solidFill>
                  <a:srgbClr val="A15C64"/>
                </a:solidFill>
                <a:latin typeface="Handy Casual"/>
              </a:rPr>
              <a:t>2000 to 2015 Years, </a:t>
            </a:r>
            <a:r>
              <a:rPr lang="en-US" sz="3600" dirty="0">
                <a:solidFill>
                  <a:srgbClr val="A15C64"/>
                </a:solidFill>
                <a:latin typeface="Handy Casual"/>
              </a:rPr>
              <a:t>and we're using predictive analytics to extend predictions beyond this timeframe.</a:t>
            </a:r>
          </a:p>
          <a:p>
            <a:pPr marL="647700" lvl="1" indent="-323850">
              <a:lnSpc>
                <a:spcPct val="150000"/>
              </a:lnSpc>
              <a:buFont typeface="Arial"/>
              <a:buChar char="•"/>
            </a:pPr>
            <a:r>
              <a:rPr lang="en-US" sz="3600" dirty="0">
                <a:solidFill>
                  <a:srgbClr val="A15C64"/>
                </a:solidFill>
                <a:latin typeface="Handy Casual"/>
              </a:rPr>
              <a:t>We got this dataset from one of the government site in US.</a:t>
            </a:r>
          </a:p>
          <a:p>
            <a:pPr marL="647700" lvl="1" indent="-323850">
              <a:lnSpc>
                <a:spcPct val="150000"/>
              </a:lnSpc>
              <a:buFont typeface="Arial"/>
              <a:buChar char="•"/>
            </a:pPr>
            <a:r>
              <a:rPr lang="en-US" sz="3600" dirty="0">
                <a:solidFill>
                  <a:srgbClr val="A15C64"/>
                </a:solidFill>
                <a:latin typeface="Handy Casual"/>
              </a:rPr>
              <a:t>Leveraging predictive modeling on a healthcare platform, we've forecasted life expectancy, population trends, and additional health data.</a:t>
            </a:r>
          </a:p>
          <a:p>
            <a:pPr marL="647700" lvl="1" indent="-323850">
              <a:lnSpc>
                <a:spcPct val="150000"/>
              </a:lnSpc>
              <a:buFont typeface="Arial"/>
              <a:buChar char="•"/>
            </a:pPr>
            <a:r>
              <a:rPr lang="en-US" sz="3600" dirty="0">
                <a:solidFill>
                  <a:srgbClr val="A15C64"/>
                </a:solidFill>
                <a:latin typeface="Handy Casual"/>
              </a:rPr>
              <a:t>This predictive capability empowers us to project future health outcomes, guiding proactive interventions and policy decisions.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7" name="Freeform 7"/>
          <p:cNvSpPr/>
          <p:nvPr/>
        </p:nvSpPr>
        <p:spPr>
          <a:xfrm>
            <a:off x="494999" y="1876370"/>
            <a:ext cx="1257673" cy="1257673"/>
          </a:xfrm>
          <a:custGeom>
            <a:avLst/>
            <a:gdLst/>
            <a:ahLst/>
            <a:cxnLst/>
            <a:rect l="l" t="t" r="r" b="b"/>
            <a:pathLst>
              <a:path w="1257673" h="1257673">
                <a:moveTo>
                  <a:pt x="0" y="0"/>
                </a:moveTo>
                <a:lnTo>
                  <a:pt x="1257672" y="0"/>
                </a:lnTo>
                <a:lnTo>
                  <a:pt x="1257672" y="1257673"/>
                </a:lnTo>
                <a:lnTo>
                  <a:pt x="0" y="12576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8" name="Freeform 8"/>
          <p:cNvSpPr/>
          <p:nvPr/>
        </p:nvSpPr>
        <p:spPr>
          <a:xfrm>
            <a:off x="16630464" y="399864"/>
            <a:ext cx="1257673" cy="1257673"/>
          </a:xfrm>
          <a:custGeom>
            <a:avLst/>
            <a:gdLst/>
            <a:ahLst/>
            <a:cxnLst/>
            <a:rect l="l" t="t" r="r" b="b"/>
            <a:pathLst>
              <a:path w="1257673" h="1257673">
                <a:moveTo>
                  <a:pt x="0" y="0"/>
                </a:moveTo>
                <a:lnTo>
                  <a:pt x="1257672" y="0"/>
                </a:lnTo>
                <a:lnTo>
                  <a:pt x="1257672" y="1257672"/>
                </a:lnTo>
                <a:lnTo>
                  <a:pt x="0" y="12576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TextBox 9"/>
          <p:cNvSpPr txBox="1"/>
          <p:nvPr/>
        </p:nvSpPr>
        <p:spPr>
          <a:xfrm>
            <a:off x="2074894" y="-386551"/>
            <a:ext cx="12191928" cy="1817101"/>
          </a:xfrm>
          <a:prstGeom prst="rect">
            <a:avLst/>
          </a:prstGeom>
        </p:spPr>
        <p:txBody>
          <a:bodyPr wrap="square" lIns="0" tIns="0" rIns="0" bIns="0" rtlCol="0" anchor="t">
            <a:spAutoFit/>
          </a:bodyPr>
          <a:lstStyle/>
          <a:p>
            <a:pPr algn="ctr">
              <a:lnSpc>
                <a:spcPts val="16206"/>
              </a:lnSpc>
              <a:spcBef>
                <a:spcPct val="0"/>
              </a:spcBef>
            </a:pPr>
            <a:r>
              <a:rPr lang="en-US" sz="7200" dirty="0">
                <a:solidFill>
                  <a:srgbClr val="A15C64"/>
                </a:solidFill>
                <a:latin typeface="Bobby Jones"/>
              </a:rPr>
              <a:t>Overview of dataset </a:t>
            </a:r>
            <a:endParaRPr lang="en-US" sz="8800" dirty="0">
              <a:solidFill>
                <a:srgbClr val="A15C64"/>
              </a:solidFill>
              <a:latin typeface="Bobby Jones"/>
            </a:endParaRPr>
          </a:p>
        </p:txBody>
      </p:sp>
      <p:sp>
        <p:nvSpPr>
          <p:cNvPr id="11" name="TextBox 11"/>
          <p:cNvSpPr txBox="1"/>
          <p:nvPr/>
        </p:nvSpPr>
        <p:spPr>
          <a:xfrm>
            <a:off x="2074894" y="1461723"/>
            <a:ext cx="13831421" cy="8022709"/>
          </a:xfrm>
          <a:prstGeom prst="rect">
            <a:avLst/>
          </a:prstGeom>
        </p:spPr>
        <p:txBody>
          <a:bodyPr wrap="square" lIns="0" tIns="0" rIns="0" bIns="0" rtlCol="0" anchor="t">
            <a:spAutoFit/>
          </a:bodyPr>
          <a:lstStyle/>
          <a:p>
            <a:pPr marL="647700" lvl="1" indent="-323850">
              <a:lnSpc>
                <a:spcPct val="150000"/>
              </a:lnSpc>
              <a:buFont typeface="Arial"/>
              <a:buChar char="•"/>
            </a:pPr>
            <a:r>
              <a:rPr lang="en-US" sz="3200" u="sng" dirty="0">
                <a:solidFill>
                  <a:srgbClr val="A15C64"/>
                </a:solidFill>
                <a:latin typeface="Handy Casual"/>
              </a:rPr>
              <a:t>Dataset containing 1649 rows and 22 columns.</a:t>
            </a:r>
          </a:p>
          <a:p>
            <a:pPr marL="647700" lvl="1" indent="-323850">
              <a:lnSpc>
                <a:spcPct val="150000"/>
              </a:lnSpc>
              <a:buFont typeface="Arial"/>
              <a:buChar char="•"/>
            </a:pPr>
            <a:r>
              <a:rPr lang="en-US" sz="3200" dirty="0">
                <a:solidFill>
                  <a:srgbClr val="A15C64"/>
                </a:solidFill>
                <a:latin typeface="Handy Casual"/>
              </a:rPr>
              <a:t>Our dataset spans from </a:t>
            </a:r>
            <a:r>
              <a:rPr lang="en-US" sz="3200" u="sng" dirty="0">
                <a:solidFill>
                  <a:srgbClr val="A15C64"/>
                </a:solidFill>
                <a:latin typeface="Handy Casual"/>
              </a:rPr>
              <a:t>2000 to 2015 Years, </a:t>
            </a:r>
          </a:p>
          <a:p>
            <a:pPr marL="647700" lvl="1" indent="-323850">
              <a:lnSpc>
                <a:spcPct val="150000"/>
              </a:lnSpc>
              <a:buFont typeface="Arial"/>
              <a:buChar char="•"/>
            </a:pPr>
            <a:r>
              <a:rPr lang="en-US" sz="3200" dirty="0">
                <a:solidFill>
                  <a:srgbClr val="A15C64"/>
                </a:solidFill>
                <a:latin typeface="Handy Casual"/>
              </a:rPr>
              <a:t>Columns name : Country, Year, Status("Developed" or "Developing),Life expectancy(our star), Schooling(avg school year) ,GDP, Population , infant deaths, Hepatitis </a:t>
            </a:r>
            <a:r>
              <a:rPr lang="en-US" sz="3200" dirty="0" err="1">
                <a:solidFill>
                  <a:srgbClr val="A15C64"/>
                </a:solidFill>
                <a:latin typeface="Handy Casual"/>
              </a:rPr>
              <a:t>B,Measles</a:t>
            </a:r>
            <a:r>
              <a:rPr lang="en-US" sz="3200" dirty="0">
                <a:solidFill>
                  <a:srgbClr val="A15C64"/>
                </a:solidFill>
                <a:latin typeface="Handy Casual"/>
              </a:rPr>
              <a:t> , BMI, Diphtheria , HIV/AIDS, under-five deaths, Polio, Total expenditure, Income composition of resources,</a:t>
            </a:r>
          </a:p>
          <a:p>
            <a:pPr marL="647700" lvl="1" indent="-323850">
              <a:lnSpc>
                <a:spcPct val="150000"/>
              </a:lnSpc>
              <a:buFont typeface="Arial"/>
              <a:buChar char="•"/>
            </a:pPr>
            <a:r>
              <a:rPr lang="en-US" sz="3200" dirty="0">
                <a:solidFill>
                  <a:srgbClr val="A15C64"/>
                </a:solidFill>
                <a:latin typeface="Handy Casual"/>
              </a:rPr>
              <a:t>Adult Mortality - Adult mortality is the chance that a person will die between the ages of 15 and 60.</a:t>
            </a:r>
          </a:p>
          <a:p>
            <a:pPr marL="647700" lvl="1" indent="-323850">
              <a:lnSpc>
                <a:spcPct val="150000"/>
              </a:lnSpc>
              <a:buFont typeface="Arial"/>
              <a:buChar char="•"/>
            </a:pPr>
            <a:r>
              <a:rPr lang="en-US" sz="3200" dirty="0">
                <a:solidFill>
                  <a:srgbClr val="A15C64"/>
                </a:solidFill>
                <a:latin typeface="Handy Casual"/>
              </a:rPr>
              <a:t>Alcohol - average alcohol consumption in liters per capita</a:t>
            </a:r>
          </a:p>
          <a:p>
            <a:pPr marL="647700" lvl="1" indent="-323850">
              <a:lnSpc>
                <a:spcPct val="150000"/>
              </a:lnSpc>
              <a:buFont typeface="Arial"/>
              <a:buChar char="•"/>
            </a:pPr>
            <a:r>
              <a:rPr lang="en-US" sz="3200" dirty="0">
                <a:solidFill>
                  <a:srgbClr val="A15C64"/>
                </a:solidFill>
                <a:latin typeface="Handy Casual"/>
              </a:rPr>
              <a:t>percentage expenditure-how much money a country spends on healthcare relative to its total economic output</a:t>
            </a:r>
          </a:p>
          <a:p>
            <a:pPr marL="647700" lvl="1" indent="-323850">
              <a:lnSpc>
                <a:spcPct val="150000"/>
              </a:lnSpc>
              <a:buFont typeface="Arial"/>
              <a:buChar char="•"/>
            </a:pPr>
            <a:r>
              <a:rPr lang="en-US" sz="3200" dirty="0">
                <a:solidFill>
                  <a:srgbClr val="A15C64"/>
                </a:solidFill>
                <a:latin typeface="Handy Casual"/>
              </a:rPr>
              <a:t> thinness  1-19 years &amp; thinness 5-9 years – underweight children and teenagers</a:t>
            </a:r>
          </a:p>
        </p:txBody>
      </p:sp>
    </p:spTree>
    <p:extLst>
      <p:ext uri="{BB962C8B-B14F-4D97-AF65-F5344CB8AC3E}">
        <p14:creationId xmlns:p14="http://schemas.microsoft.com/office/powerpoint/2010/main" val="854666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8" name="Freeform 8"/>
          <p:cNvSpPr/>
          <p:nvPr/>
        </p:nvSpPr>
        <p:spPr>
          <a:xfrm rot="-9336815">
            <a:off x="-900715" y="-1529733"/>
            <a:ext cx="2839212" cy="4114800"/>
          </a:xfrm>
          <a:custGeom>
            <a:avLst/>
            <a:gdLst/>
            <a:ahLst/>
            <a:cxnLst/>
            <a:rect l="l" t="t" r="r" b="b"/>
            <a:pathLst>
              <a:path w="2839212" h="4114800">
                <a:moveTo>
                  <a:pt x="0" y="0"/>
                </a:moveTo>
                <a:lnTo>
                  <a:pt x="2839212" y="0"/>
                </a:lnTo>
                <a:lnTo>
                  <a:pt x="283921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rot="264103">
            <a:off x="16868394" y="7132682"/>
            <a:ext cx="2839212" cy="4114800"/>
          </a:xfrm>
          <a:custGeom>
            <a:avLst/>
            <a:gdLst/>
            <a:ahLst/>
            <a:cxnLst/>
            <a:rect l="l" t="t" r="r" b="b"/>
            <a:pathLst>
              <a:path w="2839212" h="4114800">
                <a:moveTo>
                  <a:pt x="0" y="0"/>
                </a:moveTo>
                <a:lnTo>
                  <a:pt x="2839212" y="0"/>
                </a:lnTo>
                <a:lnTo>
                  <a:pt x="283921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a:off x="1028700" y="972497"/>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p:cNvSpPr/>
          <p:nvPr/>
        </p:nvSpPr>
        <p:spPr>
          <a:xfrm>
            <a:off x="1953607" y="739351"/>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Freeform 12"/>
          <p:cNvSpPr/>
          <p:nvPr/>
        </p:nvSpPr>
        <p:spPr>
          <a:xfrm>
            <a:off x="15845974" y="8267446"/>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Freeform 13"/>
          <p:cNvSpPr/>
          <p:nvPr/>
        </p:nvSpPr>
        <p:spPr>
          <a:xfrm>
            <a:off x="16658474" y="7855724"/>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5" name="Freeform 15"/>
          <p:cNvSpPr/>
          <p:nvPr/>
        </p:nvSpPr>
        <p:spPr>
          <a:xfrm>
            <a:off x="16252224" y="972497"/>
            <a:ext cx="2414918" cy="1267832"/>
          </a:xfrm>
          <a:custGeom>
            <a:avLst/>
            <a:gdLst/>
            <a:ahLst/>
            <a:cxnLst/>
            <a:rect l="l" t="t" r="r" b="b"/>
            <a:pathLst>
              <a:path w="2414918" h="1267832">
                <a:moveTo>
                  <a:pt x="0" y="0"/>
                </a:moveTo>
                <a:lnTo>
                  <a:pt x="2414918" y="0"/>
                </a:lnTo>
                <a:lnTo>
                  <a:pt x="2414918" y="1267832"/>
                </a:lnTo>
                <a:lnTo>
                  <a:pt x="0" y="12678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7" name="Freeform 17"/>
          <p:cNvSpPr/>
          <p:nvPr/>
        </p:nvSpPr>
        <p:spPr>
          <a:xfrm>
            <a:off x="17268336" y="4291613"/>
            <a:ext cx="2414918" cy="1930551"/>
          </a:xfrm>
          <a:custGeom>
            <a:avLst/>
            <a:gdLst/>
            <a:ahLst/>
            <a:cxnLst/>
            <a:rect l="l" t="t" r="r" b="b"/>
            <a:pathLst>
              <a:path w="2790507" h="2738185">
                <a:moveTo>
                  <a:pt x="0" y="0"/>
                </a:moveTo>
                <a:lnTo>
                  <a:pt x="2790506" y="0"/>
                </a:lnTo>
                <a:lnTo>
                  <a:pt x="2790506" y="2738184"/>
                </a:lnTo>
                <a:lnTo>
                  <a:pt x="0" y="273818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9" name="Freeform 19"/>
          <p:cNvSpPr/>
          <p:nvPr/>
        </p:nvSpPr>
        <p:spPr>
          <a:xfrm>
            <a:off x="17388814" y="-313627"/>
            <a:ext cx="1278328" cy="920396"/>
          </a:xfrm>
          <a:custGeom>
            <a:avLst/>
            <a:gdLst/>
            <a:ahLst/>
            <a:cxnLst/>
            <a:rect l="l" t="t" r="r" b="b"/>
            <a:pathLst>
              <a:path w="1278328" h="920396">
                <a:moveTo>
                  <a:pt x="0" y="0"/>
                </a:moveTo>
                <a:lnTo>
                  <a:pt x="1278328" y="0"/>
                </a:lnTo>
                <a:lnTo>
                  <a:pt x="1278328" y="920396"/>
                </a:lnTo>
                <a:lnTo>
                  <a:pt x="0" y="92039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0" name="TextBox 20"/>
          <p:cNvSpPr txBox="1"/>
          <p:nvPr/>
        </p:nvSpPr>
        <p:spPr>
          <a:xfrm>
            <a:off x="3810000" y="-362326"/>
            <a:ext cx="10860119" cy="1817101"/>
          </a:xfrm>
          <a:prstGeom prst="rect">
            <a:avLst/>
          </a:prstGeom>
        </p:spPr>
        <p:txBody>
          <a:bodyPr lIns="0" tIns="0" rIns="0" bIns="0" rtlCol="0" anchor="t">
            <a:spAutoFit/>
          </a:bodyPr>
          <a:lstStyle/>
          <a:p>
            <a:pPr algn="ctr">
              <a:lnSpc>
                <a:spcPts val="16206"/>
              </a:lnSpc>
              <a:spcBef>
                <a:spcPct val="0"/>
              </a:spcBef>
            </a:pPr>
            <a:r>
              <a:rPr lang="en-US" sz="8000" dirty="0">
                <a:solidFill>
                  <a:srgbClr val="A15C64"/>
                </a:solidFill>
                <a:latin typeface="Bobby Jones"/>
              </a:rPr>
              <a:t>Data Overview</a:t>
            </a:r>
          </a:p>
        </p:txBody>
      </p:sp>
      <p:sp>
        <p:nvSpPr>
          <p:cNvPr id="23" name="TextBox 23"/>
          <p:cNvSpPr txBox="1"/>
          <p:nvPr/>
        </p:nvSpPr>
        <p:spPr>
          <a:xfrm>
            <a:off x="3214768" y="5159289"/>
            <a:ext cx="1766678" cy="533400"/>
          </a:xfrm>
          <a:prstGeom prst="rect">
            <a:avLst/>
          </a:prstGeom>
        </p:spPr>
        <p:txBody>
          <a:bodyPr lIns="0" tIns="0" rIns="0" bIns="0" rtlCol="0" anchor="t">
            <a:spAutoFit/>
          </a:bodyPr>
          <a:lstStyle/>
          <a:p>
            <a:pPr algn="ctr">
              <a:lnSpc>
                <a:spcPts val="4200"/>
              </a:lnSpc>
              <a:spcBef>
                <a:spcPct val="0"/>
              </a:spcBef>
            </a:pPr>
            <a:r>
              <a:rPr lang="en-US" sz="3000" dirty="0">
                <a:solidFill>
                  <a:srgbClr val="FFF8ED"/>
                </a:solidFill>
                <a:latin typeface="Bobby Jones"/>
              </a:rPr>
              <a:t>2021</a:t>
            </a:r>
          </a:p>
        </p:txBody>
      </p:sp>
      <p:sp>
        <p:nvSpPr>
          <p:cNvPr id="24" name="TextBox 24"/>
          <p:cNvSpPr txBox="1"/>
          <p:nvPr/>
        </p:nvSpPr>
        <p:spPr>
          <a:xfrm>
            <a:off x="5737320"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2022</a:t>
            </a:r>
          </a:p>
        </p:txBody>
      </p:sp>
      <p:sp>
        <p:nvSpPr>
          <p:cNvPr id="25" name="TextBox 25"/>
          <p:cNvSpPr txBox="1"/>
          <p:nvPr/>
        </p:nvSpPr>
        <p:spPr>
          <a:xfrm>
            <a:off x="8258435"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2023</a:t>
            </a:r>
          </a:p>
        </p:txBody>
      </p:sp>
      <p:sp>
        <p:nvSpPr>
          <p:cNvPr id="26" name="TextBox 26"/>
          <p:cNvSpPr txBox="1"/>
          <p:nvPr/>
        </p:nvSpPr>
        <p:spPr>
          <a:xfrm>
            <a:off x="10781513"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2024</a:t>
            </a:r>
          </a:p>
        </p:txBody>
      </p:sp>
      <p:sp>
        <p:nvSpPr>
          <p:cNvPr id="27" name="TextBox 27"/>
          <p:cNvSpPr txBox="1"/>
          <p:nvPr/>
        </p:nvSpPr>
        <p:spPr>
          <a:xfrm>
            <a:off x="13306554"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2025</a:t>
            </a:r>
          </a:p>
        </p:txBody>
      </p:sp>
      <p:pic>
        <p:nvPicPr>
          <p:cNvPr id="29" name="Picture 28">
            <a:extLst>
              <a:ext uri="{FF2B5EF4-FFF2-40B4-BE49-F238E27FC236}">
                <a16:creationId xmlns:a16="http://schemas.microsoft.com/office/drawing/2014/main" id="{657F66CE-8024-BEFD-0B1D-2D0CAE727FB3}"/>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518890" y="1536464"/>
            <a:ext cx="16195788" cy="825523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2" name="Freeform 2"/>
          <p:cNvSpPr/>
          <p:nvPr/>
        </p:nvSpPr>
        <p:spPr>
          <a:xfrm>
            <a:off x="-2372473" y="-2372473"/>
            <a:ext cx="4744945" cy="4744945"/>
          </a:xfrm>
          <a:custGeom>
            <a:avLst/>
            <a:gdLst/>
            <a:ahLst/>
            <a:cxnLst/>
            <a:rect l="l" t="t" r="r" b="b"/>
            <a:pathLst>
              <a:path w="4744945" h="4744945">
                <a:moveTo>
                  <a:pt x="0" y="0"/>
                </a:moveTo>
                <a:lnTo>
                  <a:pt x="4744946" y="0"/>
                </a:lnTo>
                <a:lnTo>
                  <a:pt x="4744946" y="4744946"/>
                </a:lnTo>
                <a:lnTo>
                  <a:pt x="0" y="47449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6500381" y="7505056"/>
            <a:ext cx="4744945" cy="4744945"/>
          </a:xfrm>
          <a:custGeom>
            <a:avLst/>
            <a:gdLst/>
            <a:ahLst/>
            <a:cxnLst/>
            <a:rect l="l" t="t" r="r" b="b"/>
            <a:pathLst>
              <a:path w="4744945" h="4744945">
                <a:moveTo>
                  <a:pt x="0" y="0"/>
                </a:moveTo>
                <a:lnTo>
                  <a:pt x="4744945" y="0"/>
                </a:lnTo>
                <a:lnTo>
                  <a:pt x="4744945" y="4744945"/>
                </a:lnTo>
                <a:lnTo>
                  <a:pt x="0" y="47449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888262" y="977983"/>
            <a:ext cx="1169138" cy="1425778"/>
          </a:xfrm>
          <a:custGeom>
            <a:avLst/>
            <a:gdLst/>
            <a:ahLst/>
            <a:cxnLst/>
            <a:rect l="l" t="t" r="r" b="b"/>
            <a:pathLst>
              <a:path w="1169138" h="1425778">
                <a:moveTo>
                  <a:pt x="0" y="0"/>
                </a:moveTo>
                <a:lnTo>
                  <a:pt x="1169138" y="0"/>
                </a:lnTo>
                <a:lnTo>
                  <a:pt x="1169138" y="1425777"/>
                </a:lnTo>
                <a:lnTo>
                  <a:pt x="0" y="14257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p:cNvSpPr/>
          <p:nvPr/>
        </p:nvSpPr>
        <p:spPr>
          <a:xfrm rot="-5474289">
            <a:off x="16983855" y="460447"/>
            <a:ext cx="1903149" cy="2272417"/>
          </a:xfrm>
          <a:custGeom>
            <a:avLst/>
            <a:gdLst/>
            <a:ahLst/>
            <a:cxnLst/>
            <a:rect l="l" t="t" r="r" b="b"/>
            <a:pathLst>
              <a:path w="1903149" h="2272417">
                <a:moveTo>
                  <a:pt x="0" y="0"/>
                </a:moveTo>
                <a:lnTo>
                  <a:pt x="1903149" y="0"/>
                </a:lnTo>
                <a:lnTo>
                  <a:pt x="1903149" y="2272416"/>
                </a:lnTo>
                <a:lnTo>
                  <a:pt x="0" y="22724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Freeform 9"/>
          <p:cNvSpPr/>
          <p:nvPr/>
        </p:nvSpPr>
        <p:spPr>
          <a:xfrm>
            <a:off x="-194955" y="8875132"/>
            <a:ext cx="2414918" cy="1267832"/>
          </a:xfrm>
          <a:custGeom>
            <a:avLst/>
            <a:gdLst/>
            <a:ahLst/>
            <a:cxnLst/>
            <a:rect l="l" t="t" r="r" b="b"/>
            <a:pathLst>
              <a:path w="2414918" h="1267832">
                <a:moveTo>
                  <a:pt x="0" y="0"/>
                </a:moveTo>
                <a:lnTo>
                  <a:pt x="2414918" y="0"/>
                </a:lnTo>
                <a:lnTo>
                  <a:pt x="2414918" y="1267832"/>
                </a:lnTo>
                <a:lnTo>
                  <a:pt x="0" y="126783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1" name="TextBox 11"/>
          <p:cNvSpPr txBox="1"/>
          <p:nvPr/>
        </p:nvSpPr>
        <p:spPr>
          <a:xfrm>
            <a:off x="3429000" y="54653"/>
            <a:ext cx="12801600" cy="1846659"/>
          </a:xfrm>
          <a:prstGeom prst="rect">
            <a:avLst/>
          </a:prstGeom>
        </p:spPr>
        <p:txBody>
          <a:bodyPr wrap="square" lIns="0" tIns="0" rIns="0" bIns="0" rtlCol="0" anchor="t">
            <a:spAutoFit/>
          </a:bodyPr>
          <a:lstStyle/>
          <a:p>
            <a:pPr algn="ctr">
              <a:spcBef>
                <a:spcPct val="0"/>
              </a:spcBef>
            </a:pPr>
            <a:r>
              <a:rPr lang="en-US" sz="6000" dirty="0">
                <a:solidFill>
                  <a:srgbClr val="A15C64"/>
                </a:solidFill>
                <a:latin typeface="Bobby Jones"/>
              </a:rPr>
              <a:t>What is Life Expectancy in healthcare term??</a:t>
            </a:r>
          </a:p>
        </p:txBody>
      </p:sp>
      <p:sp>
        <p:nvSpPr>
          <p:cNvPr id="38" name="TextBox 37">
            <a:extLst>
              <a:ext uri="{FF2B5EF4-FFF2-40B4-BE49-F238E27FC236}">
                <a16:creationId xmlns:a16="http://schemas.microsoft.com/office/drawing/2014/main" id="{A7A37F95-820D-027C-6FE8-00D91F724907}"/>
              </a:ext>
            </a:extLst>
          </p:cNvPr>
          <p:cNvSpPr txBox="1"/>
          <p:nvPr/>
        </p:nvSpPr>
        <p:spPr>
          <a:xfrm>
            <a:off x="1920857" y="1082691"/>
            <a:ext cx="15309682" cy="646331"/>
          </a:xfrm>
          <a:prstGeom prst="rect">
            <a:avLst/>
          </a:prstGeom>
          <a:noFill/>
        </p:spPr>
        <p:txBody>
          <a:bodyPr wrap="square">
            <a:spAutoFit/>
          </a:bodyPr>
          <a:lstStyle/>
          <a:p>
            <a:endParaRPr lang="en-IN" sz="3600" dirty="0">
              <a:solidFill>
                <a:srgbClr val="A15C64"/>
              </a:solidFill>
              <a:latin typeface="Handy Casual"/>
            </a:endParaRPr>
          </a:p>
        </p:txBody>
      </p:sp>
      <p:sp>
        <p:nvSpPr>
          <p:cNvPr id="6" name="TextBox 5">
            <a:extLst>
              <a:ext uri="{FF2B5EF4-FFF2-40B4-BE49-F238E27FC236}">
                <a16:creationId xmlns:a16="http://schemas.microsoft.com/office/drawing/2014/main" id="{18F1FE2B-CDAA-01AE-038F-BCD6E8B83DB4}"/>
              </a:ext>
            </a:extLst>
          </p:cNvPr>
          <p:cNvSpPr txBox="1"/>
          <p:nvPr/>
        </p:nvSpPr>
        <p:spPr>
          <a:xfrm>
            <a:off x="3810000" y="2374620"/>
            <a:ext cx="14859000" cy="3170099"/>
          </a:xfrm>
          <a:prstGeom prst="rect">
            <a:avLst/>
          </a:prstGeom>
          <a:noFill/>
        </p:spPr>
        <p:txBody>
          <a:bodyPr wrap="square">
            <a:spAutoFit/>
          </a:bodyPr>
          <a:lstStyle/>
          <a:p>
            <a:pPr algn="l"/>
            <a:r>
              <a:rPr lang="en-US" sz="4000" dirty="0">
                <a:solidFill>
                  <a:srgbClr val="A15C64"/>
                </a:solidFill>
                <a:latin typeface="Handy Casual"/>
              </a:rPr>
              <a:t>In healthcare, life expectancy refers to the average number of years that a person is expected to live, typically based on statistical data and demographic factors such as age, sex, and other relevant characteristics. It represents an estimate of how long an individual is likely to live, on average, given current mortality rates and other relevant factors.</a:t>
            </a:r>
          </a:p>
        </p:txBody>
      </p:sp>
      <p:sp>
        <p:nvSpPr>
          <p:cNvPr id="10" name="TextBox 9">
            <a:extLst>
              <a:ext uri="{FF2B5EF4-FFF2-40B4-BE49-F238E27FC236}">
                <a16:creationId xmlns:a16="http://schemas.microsoft.com/office/drawing/2014/main" id="{B5E939CF-0B20-098B-FF84-F51BE99404B3}"/>
              </a:ext>
            </a:extLst>
          </p:cNvPr>
          <p:cNvSpPr txBox="1"/>
          <p:nvPr/>
        </p:nvSpPr>
        <p:spPr>
          <a:xfrm>
            <a:off x="381000" y="5836649"/>
            <a:ext cx="15240000" cy="2554545"/>
          </a:xfrm>
          <a:prstGeom prst="rect">
            <a:avLst/>
          </a:prstGeom>
          <a:noFill/>
        </p:spPr>
        <p:txBody>
          <a:bodyPr wrap="square">
            <a:spAutoFit/>
          </a:bodyPr>
          <a:lstStyle/>
          <a:p>
            <a:pPr algn="l"/>
            <a:r>
              <a:rPr lang="en-US" sz="4000" dirty="0">
                <a:solidFill>
                  <a:srgbClr val="A15C64"/>
                </a:solidFill>
                <a:latin typeface="Handy Casual"/>
              </a:rPr>
              <a:t>Life expectancy is an essential indicator of a population's overall health and well-being. It is influenced by various factors, including access to healthcare, prevalence of diseases and chronic conditions, lifestyle choices, environmental factors, socioeconomic status, and advancements in medical technology and public health interventions</a:t>
            </a:r>
          </a:p>
        </p:txBody>
      </p:sp>
    </p:spTree>
    <p:extLst>
      <p:ext uri="{BB962C8B-B14F-4D97-AF65-F5344CB8AC3E}">
        <p14:creationId xmlns:p14="http://schemas.microsoft.com/office/powerpoint/2010/main" val="1099645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7" name="Freeform 7"/>
          <p:cNvSpPr/>
          <p:nvPr/>
        </p:nvSpPr>
        <p:spPr>
          <a:xfrm>
            <a:off x="494999" y="1876370"/>
            <a:ext cx="1257673" cy="1257673"/>
          </a:xfrm>
          <a:custGeom>
            <a:avLst/>
            <a:gdLst/>
            <a:ahLst/>
            <a:cxnLst/>
            <a:rect l="l" t="t" r="r" b="b"/>
            <a:pathLst>
              <a:path w="1257673" h="1257673">
                <a:moveTo>
                  <a:pt x="0" y="0"/>
                </a:moveTo>
                <a:lnTo>
                  <a:pt x="1257672" y="0"/>
                </a:lnTo>
                <a:lnTo>
                  <a:pt x="1257672" y="1257673"/>
                </a:lnTo>
                <a:lnTo>
                  <a:pt x="0" y="12576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8" name="Freeform 8"/>
          <p:cNvSpPr/>
          <p:nvPr/>
        </p:nvSpPr>
        <p:spPr>
          <a:xfrm>
            <a:off x="16630464" y="399864"/>
            <a:ext cx="1257673" cy="1257673"/>
          </a:xfrm>
          <a:custGeom>
            <a:avLst/>
            <a:gdLst/>
            <a:ahLst/>
            <a:cxnLst/>
            <a:rect l="l" t="t" r="r" b="b"/>
            <a:pathLst>
              <a:path w="1257673" h="1257673">
                <a:moveTo>
                  <a:pt x="0" y="0"/>
                </a:moveTo>
                <a:lnTo>
                  <a:pt x="1257672" y="0"/>
                </a:lnTo>
                <a:lnTo>
                  <a:pt x="1257672" y="1257672"/>
                </a:lnTo>
                <a:lnTo>
                  <a:pt x="0" y="12576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TextBox 9"/>
          <p:cNvSpPr txBox="1"/>
          <p:nvPr/>
        </p:nvSpPr>
        <p:spPr>
          <a:xfrm>
            <a:off x="1524000" y="17318"/>
            <a:ext cx="14555570" cy="1107996"/>
          </a:xfrm>
          <a:prstGeom prst="rect">
            <a:avLst/>
          </a:prstGeom>
        </p:spPr>
        <p:txBody>
          <a:bodyPr wrap="square" lIns="0" tIns="0" rIns="0" bIns="0" rtlCol="0" anchor="t">
            <a:spAutoFit/>
          </a:bodyPr>
          <a:lstStyle/>
          <a:p>
            <a:pPr algn="ctr">
              <a:spcBef>
                <a:spcPct val="0"/>
              </a:spcBef>
            </a:pPr>
            <a:r>
              <a:rPr lang="en-US" sz="7200" dirty="0">
                <a:solidFill>
                  <a:srgbClr val="A15C64"/>
                </a:solidFill>
                <a:latin typeface="Bobby Jones"/>
              </a:rPr>
              <a:t>Why Life Expectancy are important?</a:t>
            </a:r>
          </a:p>
        </p:txBody>
      </p:sp>
      <p:sp>
        <p:nvSpPr>
          <p:cNvPr id="11" name="TextBox 11"/>
          <p:cNvSpPr txBox="1"/>
          <p:nvPr/>
        </p:nvSpPr>
        <p:spPr>
          <a:xfrm>
            <a:off x="2074894" y="1461723"/>
            <a:ext cx="13831421" cy="6545382"/>
          </a:xfrm>
          <a:prstGeom prst="rect">
            <a:avLst/>
          </a:prstGeom>
        </p:spPr>
        <p:txBody>
          <a:bodyPr wrap="square" lIns="0" tIns="0" rIns="0" bIns="0" rtlCol="0" anchor="t">
            <a:spAutoFit/>
          </a:bodyPr>
          <a:lstStyle/>
          <a:p>
            <a:pPr marL="647700" lvl="1" indent="-323850">
              <a:lnSpc>
                <a:spcPct val="150000"/>
              </a:lnSpc>
              <a:buFont typeface="Arial"/>
              <a:buChar char="•"/>
            </a:pPr>
            <a:r>
              <a:rPr lang="en-US" sz="3200" dirty="0">
                <a:solidFill>
                  <a:srgbClr val="A15C64"/>
                </a:solidFill>
                <a:latin typeface="Handy Casual"/>
              </a:rPr>
              <a:t>Life expectancy is a key indicator of the overall health of a population. </a:t>
            </a:r>
          </a:p>
          <a:p>
            <a:pPr marL="647700" lvl="1" indent="-323850">
              <a:lnSpc>
                <a:spcPct val="150000"/>
              </a:lnSpc>
              <a:buFont typeface="Arial"/>
              <a:buChar char="•"/>
            </a:pPr>
            <a:r>
              <a:rPr lang="en-US" sz="3200" dirty="0">
                <a:solidFill>
                  <a:srgbClr val="A15C64"/>
                </a:solidFill>
                <a:latin typeface="Handy Casual"/>
              </a:rPr>
              <a:t>Life expectancy is often used as a measure of a country's level of development and quality of life.</a:t>
            </a:r>
          </a:p>
          <a:p>
            <a:pPr marL="647700" lvl="1" indent="-323850">
              <a:lnSpc>
                <a:spcPct val="150000"/>
              </a:lnSpc>
              <a:buFont typeface="Arial"/>
              <a:buChar char="•"/>
            </a:pPr>
            <a:r>
              <a:rPr lang="en-US" sz="3200" dirty="0">
                <a:solidFill>
                  <a:srgbClr val="A15C64"/>
                </a:solidFill>
                <a:latin typeface="Handy Casual"/>
              </a:rPr>
              <a:t>Life expectancy influences economic planning, especially in terms of pensions, retirement planning, and long-term care.</a:t>
            </a:r>
          </a:p>
          <a:p>
            <a:pPr marL="647700" lvl="1" indent="-323850">
              <a:lnSpc>
                <a:spcPct val="150000"/>
              </a:lnSpc>
              <a:buFont typeface="Arial"/>
              <a:buChar char="•"/>
            </a:pPr>
            <a:r>
              <a:rPr lang="en-US" sz="3200" dirty="0">
                <a:solidFill>
                  <a:srgbClr val="A15C64"/>
                </a:solidFill>
                <a:latin typeface="Handy Casual"/>
              </a:rPr>
              <a:t>On a personal level, knowing about life expectancy can inform individual decisions about health, lifestyle choices, and financial planning</a:t>
            </a:r>
          </a:p>
          <a:p>
            <a:pPr marL="647700" lvl="1" indent="-323850">
              <a:lnSpc>
                <a:spcPct val="150000"/>
              </a:lnSpc>
              <a:buFont typeface="Arial"/>
              <a:buChar char="•"/>
            </a:pPr>
            <a:r>
              <a:rPr lang="en-US" sz="3200" dirty="0">
                <a:solidFill>
                  <a:srgbClr val="A15C64"/>
                </a:solidFill>
                <a:latin typeface="Handy Casual"/>
              </a:rPr>
              <a:t>Alcohol - average alcohol consumption in liters per capita</a:t>
            </a:r>
          </a:p>
          <a:p>
            <a:pPr marL="647700" lvl="1" indent="-323850">
              <a:lnSpc>
                <a:spcPct val="150000"/>
              </a:lnSpc>
              <a:buFont typeface="Arial"/>
              <a:buChar char="•"/>
            </a:pPr>
            <a:r>
              <a:rPr lang="en-US" sz="3200" dirty="0">
                <a:solidFill>
                  <a:srgbClr val="A15C64"/>
                </a:solidFill>
                <a:latin typeface="Handy Casual"/>
              </a:rPr>
              <a:t>On a global scale, life expectancy helps international organizations identify areas of need and prioritize health initiatives, such as disease prevention.</a:t>
            </a:r>
          </a:p>
        </p:txBody>
      </p:sp>
    </p:spTree>
    <p:extLst>
      <p:ext uri="{BB962C8B-B14F-4D97-AF65-F5344CB8AC3E}">
        <p14:creationId xmlns:p14="http://schemas.microsoft.com/office/powerpoint/2010/main" val="597840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2" name="TextBox 2"/>
          <p:cNvSpPr txBox="1"/>
          <p:nvPr/>
        </p:nvSpPr>
        <p:spPr>
          <a:xfrm>
            <a:off x="3638796" y="-274531"/>
            <a:ext cx="10860119" cy="1817101"/>
          </a:xfrm>
          <a:prstGeom prst="rect">
            <a:avLst/>
          </a:prstGeom>
        </p:spPr>
        <p:txBody>
          <a:bodyPr lIns="0" tIns="0" rIns="0" bIns="0" rtlCol="0" anchor="t">
            <a:spAutoFit/>
          </a:bodyPr>
          <a:lstStyle/>
          <a:p>
            <a:pPr algn="ctr">
              <a:lnSpc>
                <a:spcPts val="16206"/>
              </a:lnSpc>
              <a:spcBef>
                <a:spcPct val="0"/>
              </a:spcBef>
            </a:pPr>
            <a:r>
              <a:rPr lang="en-US" sz="8000" dirty="0">
                <a:solidFill>
                  <a:srgbClr val="A15C64"/>
                </a:solidFill>
                <a:latin typeface="Bobby Jones"/>
              </a:rPr>
              <a:t>Process </a:t>
            </a:r>
          </a:p>
        </p:txBody>
      </p:sp>
      <p:sp>
        <p:nvSpPr>
          <p:cNvPr id="4" name="Freeform 4"/>
          <p:cNvSpPr/>
          <p:nvPr/>
        </p:nvSpPr>
        <p:spPr>
          <a:xfrm>
            <a:off x="178796" y="2185524"/>
            <a:ext cx="2985286" cy="2827880"/>
          </a:xfrm>
          <a:custGeom>
            <a:avLst/>
            <a:gdLst/>
            <a:ahLst/>
            <a:cxnLst/>
            <a:rect l="l" t="t" r="r" b="b"/>
            <a:pathLst>
              <a:path w="2985286" h="2827880">
                <a:moveTo>
                  <a:pt x="0" y="0"/>
                </a:moveTo>
                <a:lnTo>
                  <a:pt x="2985286" y="0"/>
                </a:lnTo>
                <a:lnTo>
                  <a:pt x="2985286" y="2827880"/>
                </a:lnTo>
                <a:lnTo>
                  <a:pt x="0" y="28278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5245680" y="7459120"/>
            <a:ext cx="3067720" cy="2827880"/>
          </a:xfrm>
          <a:custGeom>
            <a:avLst/>
            <a:gdLst/>
            <a:ahLst/>
            <a:cxnLst/>
            <a:rect l="l" t="t" r="r" b="b"/>
            <a:pathLst>
              <a:path w="3067720" h="2827880">
                <a:moveTo>
                  <a:pt x="0" y="0"/>
                </a:moveTo>
                <a:lnTo>
                  <a:pt x="3067720" y="0"/>
                </a:lnTo>
                <a:lnTo>
                  <a:pt x="3067720" y="2827880"/>
                </a:lnTo>
                <a:lnTo>
                  <a:pt x="0" y="282788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p:cNvSpPr txBox="1"/>
          <p:nvPr/>
        </p:nvSpPr>
        <p:spPr>
          <a:xfrm>
            <a:off x="3442843" y="1763370"/>
            <a:ext cx="12101957" cy="7984237"/>
          </a:xfrm>
          <a:prstGeom prst="rect">
            <a:avLst/>
          </a:prstGeom>
        </p:spPr>
        <p:txBody>
          <a:bodyPr wrap="square" lIns="0" tIns="0" rIns="0" bIns="0" rtlCol="0" anchor="t">
            <a:spAutoFit/>
          </a:bodyPr>
          <a:lstStyle/>
          <a:p>
            <a:pPr marL="647700" lvl="1" indent="-323850">
              <a:lnSpc>
                <a:spcPct val="150000"/>
              </a:lnSpc>
              <a:buFont typeface="Arial"/>
              <a:buChar char="•"/>
            </a:pPr>
            <a:r>
              <a:rPr lang="en-US" sz="4400" dirty="0">
                <a:solidFill>
                  <a:srgbClr val="A15C64"/>
                </a:solidFill>
                <a:latin typeface="Handy Casual"/>
              </a:rPr>
              <a:t>Data Cleaning</a:t>
            </a:r>
          </a:p>
          <a:p>
            <a:pPr marL="647700" lvl="1" indent="-323850">
              <a:lnSpc>
                <a:spcPct val="150000"/>
              </a:lnSpc>
              <a:buFont typeface="Arial"/>
              <a:buChar char="•"/>
            </a:pPr>
            <a:r>
              <a:rPr lang="en-US" sz="4400" dirty="0">
                <a:solidFill>
                  <a:srgbClr val="A15C64"/>
                </a:solidFill>
                <a:latin typeface="Handy Casual"/>
              </a:rPr>
              <a:t>Univariate and Bivariate Analysis</a:t>
            </a:r>
          </a:p>
          <a:p>
            <a:pPr marL="647700" lvl="1" indent="-323850">
              <a:lnSpc>
                <a:spcPct val="150000"/>
              </a:lnSpc>
              <a:buFont typeface="Arial"/>
              <a:buChar char="•"/>
            </a:pPr>
            <a:r>
              <a:rPr lang="en-US" sz="4400" dirty="0">
                <a:solidFill>
                  <a:srgbClr val="A15C64"/>
                </a:solidFill>
                <a:latin typeface="Handy Casual"/>
              </a:rPr>
              <a:t>Descriptive Analysis </a:t>
            </a:r>
          </a:p>
          <a:p>
            <a:pPr marL="647700" lvl="1" indent="-323850">
              <a:lnSpc>
                <a:spcPct val="150000"/>
              </a:lnSpc>
              <a:buFont typeface="Arial"/>
              <a:buChar char="•"/>
            </a:pPr>
            <a:r>
              <a:rPr lang="en-US" sz="4400" dirty="0">
                <a:solidFill>
                  <a:srgbClr val="A15C64"/>
                </a:solidFill>
                <a:latin typeface="Handy Casual"/>
              </a:rPr>
              <a:t>Feature Importance </a:t>
            </a:r>
          </a:p>
          <a:p>
            <a:pPr marL="647700" lvl="1" indent="-323850">
              <a:lnSpc>
                <a:spcPct val="150000"/>
              </a:lnSpc>
              <a:spcBef>
                <a:spcPct val="0"/>
              </a:spcBef>
              <a:buFont typeface="Arial"/>
              <a:buChar char="•"/>
            </a:pPr>
            <a:r>
              <a:rPr lang="en-US" sz="4400" dirty="0">
                <a:solidFill>
                  <a:srgbClr val="A15C64"/>
                </a:solidFill>
                <a:latin typeface="Handy Casual"/>
              </a:rPr>
              <a:t>Correlation between Numerical Columns</a:t>
            </a:r>
          </a:p>
          <a:p>
            <a:pPr marL="647700" lvl="1" indent="-323850">
              <a:lnSpc>
                <a:spcPct val="150000"/>
              </a:lnSpc>
              <a:spcBef>
                <a:spcPct val="0"/>
              </a:spcBef>
              <a:buFont typeface="Arial"/>
              <a:buChar char="•"/>
            </a:pPr>
            <a:r>
              <a:rPr lang="en-US" sz="4400" dirty="0">
                <a:solidFill>
                  <a:srgbClr val="A15C64"/>
                </a:solidFill>
                <a:latin typeface="Handy Casual"/>
              </a:rPr>
              <a:t>Conversion of Categorical Columns to Numerical Columns</a:t>
            </a:r>
          </a:p>
          <a:p>
            <a:pPr marL="647700" lvl="1" indent="-323850">
              <a:lnSpc>
                <a:spcPct val="150000"/>
              </a:lnSpc>
              <a:spcBef>
                <a:spcPct val="0"/>
              </a:spcBef>
              <a:buFont typeface="Arial"/>
              <a:buChar char="•"/>
            </a:pPr>
            <a:r>
              <a:rPr lang="en-US" sz="4400" dirty="0">
                <a:solidFill>
                  <a:srgbClr val="A15C64"/>
                </a:solidFill>
                <a:latin typeface="Handy Casual"/>
              </a:rPr>
              <a:t>Model Selection using Lazy Predict</a:t>
            </a:r>
          </a:p>
          <a:p>
            <a:pPr marL="647700" lvl="1" indent="-323850">
              <a:lnSpc>
                <a:spcPct val="150000"/>
              </a:lnSpc>
              <a:spcBef>
                <a:spcPct val="0"/>
              </a:spcBef>
              <a:buFont typeface="Arial"/>
              <a:buChar char="•"/>
            </a:pPr>
            <a:r>
              <a:rPr lang="en-US" sz="4400" dirty="0">
                <a:solidFill>
                  <a:srgbClr val="A15C64"/>
                </a:solidFill>
                <a:latin typeface="Handy Casual"/>
              </a:rPr>
              <a:t>Model Deployment for Life Expectancy's prediction</a:t>
            </a:r>
          </a:p>
        </p:txBody>
      </p:sp>
      <p:sp>
        <p:nvSpPr>
          <p:cNvPr id="12" name="Freeform 12"/>
          <p:cNvSpPr/>
          <p:nvPr/>
        </p:nvSpPr>
        <p:spPr>
          <a:xfrm>
            <a:off x="3147027" y="426251"/>
            <a:ext cx="591633" cy="721504"/>
          </a:xfrm>
          <a:custGeom>
            <a:avLst/>
            <a:gdLst/>
            <a:ahLst/>
            <a:cxnLst/>
            <a:rect l="l" t="t" r="r" b="b"/>
            <a:pathLst>
              <a:path w="591633" h="721504">
                <a:moveTo>
                  <a:pt x="0" y="0"/>
                </a:moveTo>
                <a:lnTo>
                  <a:pt x="591634" y="0"/>
                </a:lnTo>
                <a:lnTo>
                  <a:pt x="591634" y="721504"/>
                </a:lnTo>
                <a:lnTo>
                  <a:pt x="0" y="7215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3" name="Freeform 13"/>
          <p:cNvSpPr/>
          <p:nvPr/>
        </p:nvSpPr>
        <p:spPr>
          <a:xfrm>
            <a:off x="14525971" y="65499"/>
            <a:ext cx="591633" cy="721504"/>
          </a:xfrm>
          <a:custGeom>
            <a:avLst/>
            <a:gdLst/>
            <a:ahLst/>
            <a:cxnLst/>
            <a:rect l="l" t="t" r="r" b="b"/>
            <a:pathLst>
              <a:path w="591633" h="721504">
                <a:moveTo>
                  <a:pt x="0" y="0"/>
                </a:moveTo>
                <a:lnTo>
                  <a:pt x="591633" y="0"/>
                </a:lnTo>
                <a:lnTo>
                  <a:pt x="591633" y="721504"/>
                </a:lnTo>
                <a:lnTo>
                  <a:pt x="0" y="7215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4" name="Freeform 14"/>
          <p:cNvSpPr/>
          <p:nvPr/>
        </p:nvSpPr>
        <p:spPr>
          <a:xfrm>
            <a:off x="2239175" y="-70948"/>
            <a:ext cx="924907" cy="1127935"/>
          </a:xfrm>
          <a:custGeom>
            <a:avLst/>
            <a:gdLst/>
            <a:ahLst/>
            <a:cxnLst/>
            <a:rect l="l" t="t" r="r" b="b"/>
            <a:pathLst>
              <a:path w="924907" h="1127935">
                <a:moveTo>
                  <a:pt x="0" y="0"/>
                </a:moveTo>
                <a:lnTo>
                  <a:pt x="924906" y="0"/>
                </a:lnTo>
                <a:lnTo>
                  <a:pt x="924906" y="1127935"/>
                </a:lnTo>
                <a:lnTo>
                  <a:pt x="0" y="112793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5" name="Freeform 15"/>
          <p:cNvSpPr/>
          <p:nvPr/>
        </p:nvSpPr>
        <p:spPr>
          <a:xfrm>
            <a:off x="15245680" y="-35208"/>
            <a:ext cx="924907" cy="1127935"/>
          </a:xfrm>
          <a:custGeom>
            <a:avLst/>
            <a:gdLst/>
            <a:ahLst/>
            <a:cxnLst/>
            <a:rect l="l" t="t" r="r" b="b"/>
            <a:pathLst>
              <a:path w="924907" h="1127935">
                <a:moveTo>
                  <a:pt x="0" y="0"/>
                </a:moveTo>
                <a:lnTo>
                  <a:pt x="924906" y="0"/>
                </a:lnTo>
                <a:lnTo>
                  <a:pt x="924906" y="1127935"/>
                </a:lnTo>
                <a:lnTo>
                  <a:pt x="0" y="112793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10" name="Freeform 10"/>
          <p:cNvSpPr/>
          <p:nvPr/>
        </p:nvSpPr>
        <p:spPr>
          <a:xfrm>
            <a:off x="-762000" y="-68541"/>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0" y="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16078200" y="948690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13"/>
          <p:cNvSpPr/>
          <p:nvPr/>
        </p:nvSpPr>
        <p:spPr>
          <a:xfrm>
            <a:off x="17355132" y="9133475"/>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TextBox 20"/>
          <p:cNvSpPr txBox="1"/>
          <p:nvPr/>
        </p:nvSpPr>
        <p:spPr>
          <a:xfrm>
            <a:off x="2655876" y="-967242"/>
            <a:ext cx="12904678" cy="1699376"/>
          </a:xfrm>
          <a:prstGeom prst="rect">
            <a:avLst/>
          </a:prstGeom>
        </p:spPr>
        <p:txBody>
          <a:bodyPr wrap="square" lIns="0" tIns="0" rIns="0" bIns="0" rtlCol="0" anchor="t">
            <a:spAutoFit/>
          </a:bodyPr>
          <a:lstStyle/>
          <a:p>
            <a:pPr algn="ctr">
              <a:lnSpc>
                <a:spcPts val="16206"/>
              </a:lnSpc>
              <a:spcBef>
                <a:spcPct val="0"/>
              </a:spcBef>
            </a:pPr>
            <a:r>
              <a:rPr lang="en-US" sz="4800" dirty="0">
                <a:solidFill>
                  <a:srgbClr val="A15C64"/>
                </a:solidFill>
                <a:latin typeface="Bobby Jones"/>
              </a:rPr>
              <a:t>Overview of </a:t>
            </a:r>
            <a:r>
              <a:rPr lang="en-US" sz="4800" dirty="0" err="1">
                <a:solidFill>
                  <a:srgbClr val="A15C64"/>
                </a:solidFill>
                <a:latin typeface="Bobby Jones"/>
              </a:rPr>
              <a:t>eda</a:t>
            </a:r>
            <a:endParaRPr lang="en-US" sz="4800" dirty="0">
              <a:solidFill>
                <a:srgbClr val="A15C64"/>
              </a:solidFill>
              <a:latin typeface="Bobby Jones"/>
            </a:endParaRPr>
          </a:p>
        </p:txBody>
      </p:sp>
      <p:sp>
        <p:nvSpPr>
          <p:cNvPr id="23" name="TextBox 23"/>
          <p:cNvSpPr txBox="1"/>
          <p:nvPr/>
        </p:nvSpPr>
        <p:spPr>
          <a:xfrm>
            <a:off x="3214768" y="5159289"/>
            <a:ext cx="1766678" cy="533400"/>
          </a:xfrm>
          <a:prstGeom prst="rect">
            <a:avLst/>
          </a:prstGeom>
        </p:spPr>
        <p:txBody>
          <a:bodyPr lIns="0" tIns="0" rIns="0" bIns="0" rtlCol="0" anchor="t">
            <a:spAutoFit/>
          </a:bodyPr>
          <a:lstStyle/>
          <a:p>
            <a:pPr algn="ctr">
              <a:lnSpc>
                <a:spcPts val="4200"/>
              </a:lnSpc>
              <a:spcBef>
                <a:spcPct val="0"/>
              </a:spcBef>
            </a:pPr>
            <a:r>
              <a:rPr lang="en-US" sz="3000" dirty="0">
                <a:solidFill>
                  <a:srgbClr val="FFF8ED"/>
                </a:solidFill>
                <a:latin typeface="Bobby Jones"/>
              </a:rPr>
              <a:t>2021</a:t>
            </a:r>
          </a:p>
        </p:txBody>
      </p:sp>
      <p:sp>
        <p:nvSpPr>
          <p:cNvPr id="24" name="TextBox 24"/>
          <p:cNvSpPr txBox="1"/>
          <p:nvPr/>
        </p:nvSpPr>
        <p:spPr>
          <a:xfrm>
            <a:off x="5737320"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2022</a:t>
            </a:r>
          </a:p>
        </p:txBody>
      </p:sp>
      <p:sp>
        <p:nvSpPr>
          <p:cNvPr id="25" name="TextBox 25"/>
          <p:cNvSpPr txBox="1"/>
          <p:nvPr/>
        </p:nvSpPr>
        <p:spPr>
          <a:xfrm>
            <a:off x="8258435"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2023</a:t>
            </a:r>
          </a:p>
        </p:txBody>
      </p:sp>
      <p:sp>
        <p:nvSpPr>
          <p:cNvPr id="26" name="TextBox 26"/>
          <p:cNvSpPr txBox="1"/>
          <p:nvPr/>
        </p:nvSpPr>
        <p:spPr>
          <a:xfrm>
            <a:off x="10781513"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2024</a:t>
            </a:r>
          </a:p>
        </p:txBody>
      </p:sp>
      <p:sp>
        <p:nvSpPr>
          <p:cNvPr id="27" name="TextBox 27"/>
          <p:cNvSpPr txBox="1"/>
          <p:nvPr/>
        </p:nvSpPr>
        <p:spPr>
          <a:xfrm>
            <a:off x="13306554"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2025</a:t>
            </a:r>
          </a:p>
        </p:txBody>
      </p:sp>
      <p:sp>
        <p:nvSpPr>
          <p:cNvPr id="5" name="TextBox 6">
            <a:extLst>
              <a:ext uri="{FF2B5EF4-FFF2-40B4-BE49-F238E27FC236}">
                <a16:creationId xmlns:a16="http://schemas.microsoft.com/office/drawing/2014/main" id="{393CD136-6EF2-2565-4DC2-6E0B39474ECA}"/>
              </a:ext>
            </a:extLst>
          </p:cNvPr>
          <p:cNvSpPr txBox="1"/>
          <p:nvPr/>
        </p:nvSpPr>
        <p:spPr>
          <a:xfrm>
            <a:off x="1201510" y="890919"/>
            <a:ext cx="15656533" cy="7258397"/>
          </a:xfrm>
          <a:prstGeom prst="rect">
            <a:avLst/>
          </a:prstGeom>
        </p:spPr>
        <p:txBody>
          <a:bodyPr wrap="square" lIns="0" tIns="0" rIns="0" bIns="0" rtlCol="0" anchor="t">
            <a:spAutoFit/>
          </a:bodyPr>
          <a:lstStyle/>
          <a:p>
            <a:pPr marL="647700" lvl="1" indent="-323850">
              <a:lnSpc>
                <a:spcPct val="150000"/>
              </a:lnSpc>
              <a:buFont typeface="Arial"/>
              <a:buChar char="•"/>
            </a:pPr>
            <a:r>
              <a:rPr lang="en-US" sz="4000" dirty="0">
                <a:solidFill>
                  <a:srgbClr val="A15C64"/>
                </a:solidFill>
                <a:latin typeface="Handy Casual"/>
              </a:rPr>
              <a:t>During the analysis, we found that the dataset has outliers for each columns, we remove multiple outlier for columns to get more accurate views. </a:t>
            </a:r>
          </a:p>
          <a:p>
            <a:pPr marL="647700" lvl="1" indent="-323850">
              <a:lnSpc>
                <a:spcPct val="150000"/>
              </a:lnSpc>
              <a:buFont typeface="Arial"/>
              <a:buChar char="•"/>
            </a:pPr>
            <a:r>
              <a:rPr lang="en-US" sz="4000" dirty="0">
                <a:solidFill>
                  <a:srgbClr val="A15C64"/>
                </a:solidFill>
                <a:latin typeface="Handy Casual"/>
              </a:rPr>
              <a:t>We handled the outliers appropriately by either imputing or removing the missing values.</a:t>
            </a:r>
          </a:p>
          <a:p>
            <a:pPr marL="647700" lvl="1" indent="-323850">
              <a:lnSpc>
                <a:spcPct val="150000"/>
              </a:lnSpc>
              <a:buFont typeface="Arial"/>
              <a:buChar char="•"/>
            </a:pPr>
            <a:r>
              <a:rPr lang="en-US" sz="4000" dirty="0">
                <a:solidFill>
                  <a:srgbClr val="A15C64"/>
                </a:solidFill>
                <a:latin typeface="Handy Casual"/>
              </a:rPr>
              <a:t>To focus on the relevant parameters for predicting life expectancy, we selected important features and dropped unnecessary columns.</a:t>
            </a:r>
          </a:p>
          <a:p>
            <a:pPr marL="647700" lvl="1" indent="-323850">
              <a:lnSpc>
                <a:spcPct val="150000"/>
              </a:lnSpc>
              <a:buFont typeface="Arial"/>
              <a:buChar char="•"/>
            </a:pPr>
            <a:r>
              <a:rPr lang="en-US" sz="4000" dirty="0">
                <a:solidFill>
                  <a:srgbClr val="A15C64"/>
                </a:solidFill>
                <a:latin typeface="Handy Casual"/>
              </a:rPr>
              <a:t>We removed any non-contributing factors and features that were not dependent on life expectancy.</a:t>
            </a:r>
          </a:p>
          <a:p>
            <a:pPr marL="647700" lvl="1" indent="-323850">
              <a:lnSpc>
                <a:spcPct val="150000"/>
              </a:lnSpc>
              <a:buFont typeface="Arial"/>
              <a:buChar char="•"/>
            </a:pPr>
            <a:r>
              <a:rPr lang="en-US" sz="4000" dirty="0">
                <a:solidFill>
                  <a:srgbClr val="A15C64"/>
                </a:solidFill>
                <a:latin typeface="Handy Casual"/>
              </a:rPr>
              <a:t>Additionally, we performed bivariate ,univariate analysis on data to get better views </a:t>
            </a:r>
          </a:p>
        </p:txBody>
      </p:sp>
    </p:spTree>
    <p:extLst>
      <p:ext uri="{BB962C8B-B14F-4D97-AF65-F5344CB8AC3E}">
        <p14:creationId xmlns:p14="http://schemas.microsoft.com/office/powerpoint/2010/main" val="3557526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10" name="Freeform 10"/>
          <p:cNvSpPr/>
          <p:nvPr/>
        </p:nvSpPr>
        <p:spPr>
          <a:xfrm>
            <a:off x="-762000" y="-68541"/>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0" y="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16078200" y="948690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13"/>
          <p:cNvSpPr/>
          <p:nvPr/>
        </p:nvSpPr>
        <p:spPr>
          <a:xfrm>
            <a:off x="17355132" y="9133475"/>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TextBox 20"/>
          <p:cNvSpPr txBox="1"/>
          <p:nvPr/>
        </p:nvSpPr>
        <p:spPr>
          <a:xfrm>
            <a:off x="2655876" y="-967242"/>
            <a:ext cx="12904678" cy="3776868"/>
          </a:xfrm>
          <a:prstGeom prst="rect">
            <a:avLst/>
          </a:prstGeom>
        </p:spPr>
        <p:txBody>
          <a:bodyPr wrap="square" lIns="0" tIns="0" rIns="0" bIns="0" rtlCol="0" anchor="t">
            <a:spAutoFit/>
          </a:bodyPr>
          <a:lstStyle/>
          <a:p>
            <a:pPr algn="ctr">
              <a:lnSpc>
                <a:spcPts val="16206"/>
              </a:lnSpc>
              <a:spcBef>
                <a:spcPct val="0"/>
              </a:spcBef>
            </a:pPr>
            <a:r>
              <a:rPr lang="en-US" sz="4800" dirty="0">
                <a:solidFill>
                  <a:srgbClr val="A15C64"/>
                </a:solidFill>
                <a:latin typeface="Bobby Jones"/>
              </a:rPr>
              <a:t>Highlights of EDA</a:t>
            </a:r>
          </a:p>
          <a:p>
            <a:pPr algn="ctr">
              <a:lnSpc>
                <a:spcPts val="16206"/>
              </a:lnSpc>
              <a:spcBef>
                <a:spcPct val="0"/>
              </a:spcBef>
            </a:pPr>
            <a:endParaRPr lang="en-US" sz="4800" dirty="0">
              <a:solidFill>
                <a:srgbClr val="A15C64"/>
              </a:solidFill>
              <a:latin typeface="Bobby Jones"/>
            </a:endParaRPr>
          </a:p>
        </p:txBody>
      </p:sp>
      <p:sp>
        <p:nvSpPr>
          <p:cNvPr id="23" name="TextBox 23"/>
          <p:cNvSpPr txBox="1"/>
          <p:nvPr/>
        </p:nvSpPr>
        <p:spPr>
          <a:xfrm>
            <a:off x="3214768" y="5159289"/>
            <a:ext cx="1766678" cy="533400"/>
          </a:xfrm>
          <a:prstGeom prst="rect">
            <a:avLst/>
          </a:prstGeom>
        </p:spPr>
        <p:txBody>
          <a:bodyPr lIns="0" tIns="0" rIns="0" bIns="0" rtlCol="0" anchor="t">
            <a:spAutoFit/>
          </a:bodyPr>
          <a:lstStyle/>
          <a:p>
            <a:pPr algn="ctr">
              <a:lnSpc>
                <a:spcPts val="4200"/>
              </a:lnSpc>
              <a:spcBef>
                <a:spcPct val="0"/>
              </a:spcBef>
            </a:pPr>
            <a:r>
              <a:rPr lang="en-US" sz="3000" dirty="0">
                <a:solidFill>
                  <a:srgbClr val="FFF8ED"/>
                </a:solidFill>
                <a:latin typeface="Bobby Jones"/>
              </a:rPr>
              <a:t>2021</a:t>
            </a:r>
          </a:p>
        </p:txBody>
      </p:sp>
      <p:sp>
        <p:nvSpPr>
          <p:cNvPr id="24" name="TextBox 24"/>
          <p:cNvSpPr txBox="1"/>
          <p:nvPr/>
        </p:nvSpPr>
        <p:spPr>
          <a:xfrm>
            <a:off x="5737320"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2022</a:t>
            </a:r>
          </a:p>
        </p:txBody>
      </p:sp>
      <p:sp>
        <p:nvSpPr>
          <p:cNvPr id="25" name="TextBox 25"/>
          <p:cNvSpPr txBox="1"/>
          <p:nvPr/>
        </p:nvSpPr>
        <p:spPr>
          <a:xfrm>
            <a:off x="8258435"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2023</a:t>
            </a:r>
          </a:p>
        </p:txBody>
      </p:sp>
      <p:sp>
        <p:nvSpPr>
          <p:cNvPr id="26" name="TextBox 26"/>
          <p:cNvSpPr txBox="1"/>
          <p:nvPr/>
        </p:nvSpPr>
        <p:spPr>
          <a:xfrm>
            <a:off x="10781513"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2024</a:t>
            </a:r>
          </a:p>
        </p:txBody>
      </p:sp>
      <p:sp>
        <p:nvSpPr>
          <p:cNvPr id="27" name="TextBox 27"/>
          <p:cNvSpPr txBox="1"/>
          <p:nvPr/>
        </p:nvSpPr>
        <p:spPr>
          <a:xfrm>
            <a:off x="13306554"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2025</a:t>
            </a:r>
          </a:p>
        </p:txBody>
      </p:sp>
      <p:pic>
        <p:nvPicPr>
          <p:cNvPr id="6" name="Picture 5">
            <a:extLst>
              <a:ext uri="{FF2B5EF4-FFF2-40B4-BE49-F238E27FC236}">
                <a16:creationId xmlns:a16="http://schemas.microsoft.com/office/drawing/2014/main" id="{050336DF-C1EB-2E61-E3E0-9A7F3EA29B9D}"/>
              </a:ext>
            </a:extLst>
          </p:cNvPr>
          <p:cNvPicPr>
            <a:picLocks noChangeAspect="1"/>
          </p:cNvPicPr>
          <p:nvPr/>
        </p:nvPicPr>
        <p:blipFill>
          <a:blip r:embed="rId4">
            <a:duotone>
              <a:prstClr val="black"/>
              <a:srgbClr val="FFF8ED">
                <a:tint val="45000"/>
                <a:satMod val="400000"/>
              </a:srgbClr>
            </a:duotone>
          </a:blip>
          <a:stretch>
            <a:fillRect/>
          </a:stretch>
        </p:blipFill>
        <p:spPr>
          <a:xfrm>
            <a:off x="250967" y="2538290"/>
            <a:ext cx="8534400" cy="7645332"/>
          </a:xfrm>
          <a:prstGeom prst="rect">
            <a:avLst/>
          </a:prstGeom>
          <a:solidFill>
            <a:srgbClr val="FFF8ED"/>
          </a:solidFill>
        </p:spPr>
      </p:pic>
      <p:sp>
        <p:nvSpPr>
          <p:cNvPr id="7" name="Rectangle 1">
            <a:extLst>
              <a:ext uri="{FF2B5EF4-FFF2-40B4-BE49-F238E27FC236}">
                <a16:creationId xmlns:a16="http://schemas.microsoft.com/office/drawing/2014/main" id="{BFB8A4C2-1800-C30D-5D61-0CF1822CE0B3}"/>
              </a:ext>
            </a:extLst>
          </p:cNvPr>
          <p:cNvSpPr>
            <a:spLocks noChangeArrowheads="1"/>
          </p:cNvSpPr>
          <p:nvPr/>
        </p:nvSpPr>
        <p:spPr bwMode="auto">
          <a:xfrm>
            <a:off x="0" y="0"/>
            <a:ext cx="18288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7610" rIns="91440" bIns="45720" numCol="1" anchor="ctr" anchorCtr="0" compatLnSpc="1">
            <a:prstTxWarp prst="textNoShape">
              <a:avLst/>
            </a:prstTxWarp>
            <a:spAutoFit/>
          </a:bodyPr>
          <a:lstStyle/>
          <a:p>
            <a:endParaRPr lang="en-US"/>
          </a:p>
        </p:txBody>
      </p:sp>
      <p:sp>
        <p:nvSpPr>
          <p:cNvPr id="14" name="TextBox 13">
            <a:extLst>
              <a:ext uri="{FF2B5EF4-FFF2-40B4-BE49-F238E27FC236}">
                <a16:creationId xmlns:a16="http://schemas.microsoft.com/office/drawing/2014/main" id="{1AC0C322-F42C-40FD-9201-C326330281D0}"/>
              </a:ext>
            </a:extLst>
          </p:cNvPr>
          <p:cNvSpPr txBox="1"/>
          <p:nvPr/>
        </p:nvSpPr>
        <p:spPr>
          <a:xfrm>
            <a:off x="9745639" y="1109321"/>
            <a:ext cx="8534400" cy="1231106"/>
          </a:xfrm>
          <a:prstGeom prst="rect">
            <a:avLst/>
          </a:prstGeom>
          <a:noFill/>
        </p:spPr>
        <p:txBody>
          <a:bodyPr wrap="square" rtlCol="0">
            <a:spAutoFit/>
          </a:bodyPr>
          <a:lstStyle/>
          <a:p>
            <a:r>
              <a:rPr lang="en-US" sz="2800" dirty="0">
                <a:solidFill>
                  <a:srgbClr val="A15C64"/>
                </a:solidFill>
                <a:latin typeface="Bobby Jones"/>
              </a:rPr>
              <a:t>Bivariate Analysis for categorical-categorical Relationships:</a:t>
            </a:r>
          </a:p>
          <a:p>
            <a:endParaRPr lang="en-US" dirty="0"/>
          </a:p>
        </p:txBody>
      </p:sp>
      <p:sp>
        <p:nvSpPr>
          <p:cNvPr id="15" name="TextBox 14">
            <a:extLst>
              <a:ext uri="{FF2B5EF4-FFF2-40B4-BE49-F238E27FC236}">
                <a16:creationId xmlns:a16="http://schemas.microsoft.com/office/drawing/2014/main" id="{826285B8-5D07-A12F-0A77-4799D700D906}"/>
              </a:ext>
            </a:extLst>
          </p:cNvPr>
          <p:cNvSpPr txBox="1"/>
          <p:nvPr/>
        </p:nvSpPr>
        <p:spPr>
          <a:xfrm>
            <a:off x="335779" y="1225963"/>
            <a:ext cx="8534400" cy="1077218"/>
          </a:xfrm>
          <a:prstGeom prst="rect">
            <a:avLst/>
          </a:prstGeom>
          <a:noFill/>
        </p:spPr>
        <p:txBody>
          <a:bodyPr wrap="square" rtlCol="0">
            <a:spAutoFit/>
          </a:bodyPr>
          <a:lstStyle/>
          <a:p>
            <a:r>
              <a:rPr lang="en-US" sz="3200" dirty="0">
                <a:solidFill>
                  <a:srgbClr val="A15C64"/>
                </a:solidFill>
                <a:latin typeface="Bobby Jones"/>
              </a:rPr>
              <a:t>Bivariate Analysis for Numeric-Numeric Relationships:</a:t>
            </a:r>
            <a:endParaRPr lang="en-US" dirty="0"/>
          </a:p>
        </p:txBody>
      </p:sp>
      <p:pic>
        <p:nvPicPr>
          <p:cNvPr id="3" name="Picture 2">
            <a:extLst>
              <a:ext uri="{FF2B5EF4-FFF2-40B4-BE49-F238E27FC236}">
                <a16:creationId xmlns:a16="http://schemas.microsoft.com/office/drawing/2014/main" id="{57D015CF-97F0-D113-824E-C1934BC2E1C9}"/>
              </a:ext>
            </a:extLst>
          </p:cNvPr>
          <p:cNvPicPr>
            <a:picLocks noChangeAspect="1"/>
          </p:cNvPicPr>
          <p:nvPr/>
        </p:nvPicPr>
        <p:blipFill>
          <a:blip r:embed="rId5"/>
          <a:stretch>
            <a:fillRect/>
          </a:stretch>
        </p:blipFill>
        <p:spPr>
          <a:xfrm>
            <a:off x="8973525" y="2340426"/>
            <a:ext cx="9314475" cy="7843195"/>
          </a:xfrm>
          <a:prstGeom prst="rect">
            <a:avLst/>
          </a:prstGeom>
        </p:spPr>
      </p:pic>
    </p:spTree>
    <p:extLst>
      <p:ext uri="{BB962C8B-B14F-4D97-AF65-F5344CB8AC3E}">
        <p14:creationId xmlns:p14="http://schemas.microsoft.com/office/powerpoint/2010/main" val="1904828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10" name="Freeform 10"/>
          <p:cNvSpPr/>
          <p:nvPr/>
        </p:nvSpPr>
        <p:spPr>
          <a:xfrm>
            <a:off x="-762000" y="-68541"/>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0" y="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16078200" y="948690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13"/>
          <p:cNvSpPr/>
          <p:nvPr/>
        </p:nvSpPr>
        <p:spPr>
          <a:xfrm>
            <a:off x="17355132" y="9133475"/>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TextBox 20"/>
          <p:cNvSpPr txBox="1"/>
          <p:nvPr/>
        </p:nvSpPr>
        <p:spPr>
          <a:xfrm>
            <a:off x="2655876" y="-967242"/>
            <a:ext cx="12904678" cy="1699376"/>
          </a:xfrm>
          <a:prstGeom prst="rect">
            <a:avLst/>
          </a:prstGeom>
        </p:spPr>
        <p:txBody>
          <a:bodyPr wrap="square" lIns="0" tIns="0" rIns="0" bIns="0" rtlCol="0" anchor="t">
            <a:spAutoFit/>
          </a:bodyPr>
          <a:lstStyle/>
          <a:p>
            <a:pPr algn="ctr">
              <a:lnSpc>
                <a:spcPts val="16206"/>
              </a:lnSpc>
              <a:spcBef>
                <a:spcPct val="0"/>
              </a:spcBef>
            </a:pPr>
            <a:r>
              <a:rPr lang="en-US" sz="4800" dirty="0">
                <a:solidFill>
                  <a:srgbClr val="A15C64"/>
                </a:solidFill>
                <a:latin typeface="Bobby Jones"/>
              </a:rPr>
              <a:t>Highlights of EDA</a:t>
            </a:r>
          </a:p>
        </p:txBody>
      </p:sp>
      <p:sp>
        <p:nvSpPr>
          <p:cNvPr id="23" name="TextBox 23"/>
          <p:cNvSpPr txBox="1"/>
          <p:nvPr/>
        </p:nvSpPr>
        <p:spPr>
          <a:xfrm>
            <a:off x="3214768" y="5159289"/>
            <a:ext cx="1766678" cy="533400"/>
          </a:xfrm>
          <a:prstGeom prst="rect">
            <a:avLst/>
          </a:prstGeom>
        </p:spPr>
        <p:txBody>
          <a:bodyPr lIns="0" tIns="0" rIns="0" bIns="0" rtlCol="0" anchor="t">
            <a:spAutoFit/>
          </a:bodyPr>
          <a:lstStyle/>
          <a:p>
            <a:pPr algn="ctr">
              <a:lnSpc>
                <a:spcPts val="4200"/>
              </a:lnSpc>
              <a:spcBef>
                <a:spcPct val="0"/>
              </a:spcBef>
            </a:pPr>
            <a:r>
              <a:rPr lang="en-US" sz="3000" dirty="0">
                <a:solidFill>
                  <a:srgbClr val="FFF8ED"/>
                </a:solidFill>
                <a:latin typeface="Bobby Jones"/>
              </a:rPr>
              <a:t>2021</a:t>
            </a:r>
          </a:p>
        </p:txBody>
      </p:sp>
      <p:sp>
        <p:nvSpPr>
          <p:cNvPr id="24" name="TextBox 24"/>
          <p:cNvSpPr txBox="1"/>
          <p:nvPr/>
        </p:nvSpPr>
        <p:spPr>
          <a:xfrm>
            <a:off x="5737320"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2022</a:t>
            </a:r>
          </a:p>
        </p:txBody>
      </p:sp>
      <p:sp>
        <p:nvSpPr>
          <p:cNvPr id="25" name="TextBox 25"/>
          <p:cNvSpPr txBox="1"/>
          <p:nvPr/>
        </p:nvSpPr>
        <p:spPr>
          <a:xfrm>
            <a:off x="8258435"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2023</a:t>
            </a:r>
          </a:p>
        </p:txBody>
      </p:sp>
      <p:sp>
        <p:nvSpPr>
          <p:cNvPr id="26" name="TextBox 26"/>
          <p:cNvSpPr txBox="1"/>
          <p:nvPr/>
        </p:nvSpPr>
        <p:spPr>
          <a:xfrm>
            <a:off x="10781513"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2024</a:t>
            </a:r>
          </a:p>
        </p:txBody>
      </p:sp>
      <p:sp>
        <p:nvSpPr>
          <p:cNvPr id="27" name="TextBox 27"/>
          <p:cNvSpPr txBox="1"/>
          <p:nvPr/>
        </p:nvSpPr>
        <p:spPr>
          <a:xfrm>
            <a:off x="13306554"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2025</a:t>
            </a:r>
          </a:p>
        </p:txBody>
      </p:sp>
      <p:pic>
        <p:nvPicPr>
          <p:cNvPr id="4" name="Picture 3">
            <a:extLst>
              <a:ext uri="{FF2B5EF4-FFF2-40B4-BE49-F238E27FC236}">
                <a16:creationId xmlns:a16="http://schemas.microsoft.com/office/drawing/2014/main" id="{751854D4-2C7B-0701-422E-B05820F080E6}"/>
              </a:ext>
            </a:extLst>
          </p:cNvPr>
          <p:cNvPicPr>
            <a:picLocks noChangeAspect="1"/>
          </p:cNvPicPr>
          <p:nvPr/>
        </p:nvPicPr>
        <p:blipFill>
          <a:blip r:embed="rId4"/>
          <a:stretch>
            <a:fillRect/>
          </a:stretch>
        </p:blipFill>
        <p:spPr>
          <a:xfrm>
            <a:off x="798852" y="2530389"/>
            <a:ext cx="15934730" cy="6324600"/>
          </a:xfrm>
          <a:prstGeom prst="rect">
            <a:avLst/>
          </a:prstGeom>
        </p:spPr>
      </p:pic>
      <p:sp>
        <p:nvSpPr>
          <p:cNvPr id="5" name="TextBox 4">
            <a:extLst>
              <a:ext uri="{FF2B5EF4-FFF2-40B4-BE49-F238E27FC236}">
                <a16:creationId xmlns:a16="http://schemas.microsoft.com/office/drawing/2014/main" id="{DF075D12-80B8-F589-C8E6-848E95B618E5}"/>
              </a:ext>
            </a:extLst>
          </p:cNvPr>
          <p:cNvSpPr txBox="1"/>
          <p:nvPr/>
        </p:nvSpPr>
        <p:spPr>
          <a:xfrm>
            <a:off x="335779" y="1225963"/>
            <a:ext cx="8534400" cy="830997"/>
          </a:xfrm>
          <a:prstGeom prst="rect">
            <a:avLst/>
          </a:prstGeom>
          <a:noFill/>
        </p:spPr>
        <p:txBody>
          <a:bodyPr wrap="square" rtlCol="0">
            <a:spAutoFit/>
          </a:bodyPr>
          <a:lstStyle/>
          <a:p>
            <a:r>
              <a:rPr lang="en-US" sz="4800" dirty="0">
                <a:solidFill>
                  <a:srgbClr val="A15C64"/>
                </a:solidFill>
                <a:latin typeface="Bobby Jones"/>
              </a:rPr>
              <a:t>Multivariant analysis:</a:t>
            </a:r>
          </a:p>
        </p:txBody>
      </p:sp>
    </p:spTree>
    <p:extLst>
      <p:ext uri="{BB962C8B-B14F-4D97-AF65-F5344CB8AC3E}">
        <p14:creationId xmlns:p14="http://schemas.microsoft.com/office/powerpoint/2010/main" val="2512393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10" name="Freeform 10"/>
          <p:cNvSpPr/>
          <p:nvPr/>
        </p:nvSpPr>
        <p:spPr>
          <a:xfrm>
            <a:off x="-762000" y="-68541"/>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0" y="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16078200" y="948690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13"/>
          <p:cNvSpPr/>
          <p:nvPr/>
        </p:nvSpPr>
        <p:spPr>
          <a:xfrm>
            <a:off x="17355132" y="9133475"/>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TextBox 20"/>
          <p:cNvSpPr txBox="1"/>
          <p:nvPr/>
        </p:nvSpPr>
        <p:spPr>
          <a:xfrm>
            <a:off x="2655876" y="-967242"/>
            <a:ext cx="12904678" cy="1699376"/>
          </a:xfrm>
          <a:prstGeom prst="rect">
            <a:avLst/>
          </a:prstGeom>
        </p:spPr>
        <p:txBody>
          <a:bodyPr wrap="square" lIns="0" tIns="0" rIns="0" bIns="0" rtlCol="0" anchor="t">
            <a:spAutoFit/>
          </a:bodyPr>
          <a:lstStyle/>
          <a:p>
            <a:pPr algn="ctr">
              <a:lnSpc>
                <a:spcPts val="16206"/>
              </a:lnSpc>
              <a:spcBef>
                <a:spcPct val="0"/>
              </a:spcBef>
            </a:pPr>
            <a:r>
              <a:rPr lang="en-US" sz="4800" dirty="0">
                <a:solidFill>
                  <a:srgbClr val="A15C64"/>
                </a:solidFill>
                <a:latin typeface="Bobby Jones"/>
              </a:rPr>
              <a:t>Dashboard - 1</a:t>
            </a:r>
          </a:p>
        </p:txBody>
      </p:sp>
      <p:sp>
        <p:nvSpPr>
          <p:cNvPr id="23" name="TextBox 23"/>
          <p:cNvSpPr txBox="1"/>
          <p:nvPr/>
        </p:nvSpPr>
        <p:spPr>
          <a:xfrm>
            <a:off x="3214768" y="5159289"/>
            <a:ext cx="1766678" cy="533400"/>
          </a:xfrm>
          <a:prstGeom prst="rect">
            <a:avLst/>
          </a:prstGeom>
        </p:spPr>
        <p:txBody>
          <a:bodyPr lIns="0" tIns="0" rIns="0" bIns="0" rtlCol="0" anchor="t">
            <a:spAutoFit/>
          </a:bodyPr>
          <a:lstStyle/>
          <a:p>
            <a:pPr algn="ctr">
              <a:lnSpc>
                <a:spcPts val="4200"/>
              </a:lnSpc>
              <a:spcBef>
                <a:spcPct val="0"/>
              </a:spcBef>
            </a:pPr>
            <a:r>
              <a:rPr lang="en-US" sz="3000" dirty="0">
                <a:solidFill>
                  <a:srgbClr val="FFF8ED"/>
                </a:solidFill>
                <a:latin typeface="Bobby Jones"/>
              </a:rPr>
              <a:t>2021</a:t>
            </a:r>
          </a:p>
        </p:txBody>
      </p:sp>
      <p:sp>
        <p:nvSpPr>
          <p:cNvPr id="24" name="TextBox 24"/>
          <p:cNvSpPr txBox="1"/>
          <p:nvPr/>
        </p:nvSpPr>
        <p:spPr>
          <a:xfrm>
            <a:off x="5737320"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2022</a:t>
            </a:r>
          </a:p>
        </p:txBody>
      </p:sp>
      <p:sp>
        <p:nvSpPr>
          <p:cNvPr id="25" name="TextBox 25"/>
          <p:cNvSpPr txBox="1"/>
          <p:nvPr/>
        </p:nvSpPr>
        <p:spPr>
          <a:xfrm>
            <a:off x="8258435"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2023</a:t>
            </a:r>
          </a:p>
        </p:txBody>
      </p:sp>
      <p:sp>
        <p:nvSpPr>
          <p:cNvPr id="26" name="TextBox 26"/>
          <p:cNvSpPr txBox="1"/>
          <p:nvPr/>
        </p:nvSpPr>
        <p:spPr>
          <a:xfrm>
            <a:off x="10781513"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2024</a:t>
            </a:r>
          </a:p>
        </p:txBody>
      </p:sp>
      <p:sp>
        <p:nvSpPr>
          <p:cNvPr id="27" name="TextBox 27"/>
          <p:cNvSpPr txBox="1"/>
          <p:nvPr/>
        </p:nvSpPr>
        <p:spPr>
          <a:xfrm>
            <a:off x="13306554"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2025</a:t>
            </a:r>
          </a:p>
        </p:txBody>
      </p:sp>
      <p:pic>
        <p:nvPicPr>
          <p:cNvPr id="4" name="Picture 3">
            <a:extLst>
              <a:ext uri="{FF2B5EF4-FFF2-40B4-BE49-F238E27FC236}">
                <a16:creationId xmlns:a16="http://schemas.microsoft.com/office/drawing/2014/main" id="{5DB99A0A-A1B6-426A-C442-1EEAF2EB9EFC}"/>
              </a:ext>
            </a:extLst>
          </p:cNvPr>
          <p:cNvPicPr>
            <a:picLocks noChangeAspect="1"/>
          </p:cNvPicPr>
          <p:nvPr/>
        </p:nvPicPr>
        <p:blipFill>
          <a:blip r:embed="rId4"/>
          <a:stretch>
            <a:fillRect/>
          </a:stretch>
        </p:blipFill>
        <p:spPr>
          <a:xfrm>
            <a:off x="162907" y="800674"/>
            <a:ext cx="18117131" cy="9372025"/>
          </a:xfrm>
          <a:prstGeom prst="rect">
            <a:avLst/>
          </a:prstGeom>
        </p:spPr>
      </p:pic>
    </p:spTree>
    <p:extLst>
      <p:ext uri="{BB962C8B-B14F-4D97-AF65-F5344CB8AC3E}">
        <p14:creationId xmlns:p14="http://schemas.microsoft.com/office/powerpoint/2010/main" val="647957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10" name="Freeform 10"/>
          <p:cNvSpPr/>
          <p:nvPr/>
        </p:nvSpPr>
        <p:spPr>
          <a:xfrm>
            <a:off x="-762000" y="-68541"/>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0" y="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16078200" y="948690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13"/>
          <p:cNvSpPr/>
          <p:nvPr/>
        </p:nvSpPr>
        <p:spPr>
          <a:xfrm>
            <a:off x="17355132" y="9133475"/>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TextBox 20"/>
          <p:cNvSpPr txBox="1"/>
          <p:nvPr/>
        </p:nvSpPr>
        <p:spPr>
          <a:xfrm>
            <a:off x="2655876" y="-967242"/>
            <a:ext cx="12904678" cy="1699376"/>
          </a:xfrm>
          <a:prstGeom prst="rect">
            <a:avLst/>
          </a:prstGeom>
        </p:spPr>
        <p:txBody>
          <a:bodyPr wrap="square" lIns="0" tIns="0" rIns="0" bIns="0" rtlCol="0" anchor="t">
            <a:spAutoFit/>
          </a:bodyPr>
          <a:lstStyle/>
          <a:p>
            <a:pPr algn="ctr">
              <a:lnSpc>
                <a:spcPts val="16206"/>
              </a:lnSpc>
              <a:spcBef>
                <a:spcPct val="0"/>
              </a:spcBef>
            </a:pPr>
            <a:r>
              <a:rPr lang="en-US" sz="4800" dirty="0">
                <a:solidFill>
                  <a:srgbClr val="A15C64"/>
                </a:solidFill>
                <a:latin typeface="Bobby Jones"/>
              </a:rPr>
              <a:t>Dashboard -2 </a:t>
            </a:r>
          </a:p>
        </p:txBody>
      </p:sp>
      <p:sp>
        <p:nvSpPr>
          <p:cNvPr id="23" name="TextBox 23"/>
          <p:cNvSpPr txBox="1"/>
          <p:nvPr/>
        </p:nvSpPr>
        <p:spPr>
          <a:xfrm>
            <a:off x="3214768" y="5159289"/>
            <a:ext cx="1766678" cy="533400"/>
          </a:xfrm>
          <a:prstGeom prst="rect">
            <a:avLst/>
          </a:prstGeom>
        </p:spPr>
        <p:txBody>
          <a:bodyPr lIns="0" tIns="0" rIns="0" bIns="0" rtlCol="0" anchor="t">
            <a:spAutoFit/>
          </a:bodyPr>
          <a:lstStyle/>
          <a:p>
            <a:pPr algn="ctr">
              <a:lnSpc>
                <a:spcPts val="4200"/>
              </a:lnSpc>
              <a:spcBef>
                <a:spcPct val="0"/>
              </a:spcBef>
            </a:pPr>
            <a:r>
              <a:rPr lang="en-US" sz="3000" dirty="0">
                <a:solidFill>
                  <a:srgbClr val="FFF8ED"/>
                </a:solidFill>
                <a:latin typeface="Bobby Jones"/>
              </a:rPr>
              <a:t>2021</a:t>
            </a:r>
          </a:p>
        </p:txBody>
      </p:sp>
      <p:sp>
        <p:nvSpPr>
          <p:cNvPr id="24" name="TextBox 24"/>
          <p:cNvSpPr txBox="1"/>
          <p:nvPr/>
        </p:nvSpPr>
        <p:spPr>
          <a:xfrm>
            <a:off x="5737320"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2022</a:t>
            </a:r>
          </a:p>
        </p:txBody>
      </p:sp>
      <p:sp>
        <p:nvSpPr>
          <p:cNvPr id="25" name="TextBox 25"/>
          <p:cNvSpPr txBox="1"/>
          <p:nvPr/>
        </p:nvSpPr>
        <p:spPr>
          <a:xfrm>
            <a:off x="8258435"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2023</a:t>
            </a:r>
          </a:p>
        </p:txBody>
      </p:sp>
      <p:sp>
        <p:nvSpPr>
          <p:cNvPr id="26" name="TextBox 26"/>
          <p:cNvSpPr txBox="1"/>
          <p:nvPr/>
        </p:nvSpPr>
        <p:spPr>
          <a:xfrm>
            <a:off x="10781513"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2024</a:t>
            </a:r>
          </a:p>
        </p:txBody>
      </p:sp>
      <p:sp>
        <p:nvSpPr>
          <p:cNvPr id="27" name="TextBox 27"/>
          <p:cNvSpPr txBox="1"/>
          <p:nvPr/>
        </p:nvSpPr>
        <p:spPr>
          <a:xfrm>
            <a:off x="13306554"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2025</a:t>
            </a:r>
          </a:p>
        </p:txBody>
      </p:sp>
      <p:pic>
        <p:nvPicPr>
          <p:cNvPr id="4" name="Picture 3">
            <a:extLst>
              <a:ext uri="{FF2B5EF4-FFF2-40B4-BE49-F238E27FC236}">
                <a16:creationId xmlns:a16="http://schemas.microsoft.com/office/drawing/2014/main" id="{8906C7E8-309D-9212-5AC3-25FF7989C28B}"/>
              </a:ext>
            </a:extLst>
          </p:cNvPr>
          <p:cNvPicPr>
            <a:picLocks noChangeAspect="1"/>
          </p:cNvPicPr>
          <p:nvPr/>
        </p:nvPicPr>
        <p:blipFill>
          <a:blip r:embed="rId4"/>
          <a:stretch>
            <a:fillRect/>
          </a:stretch>
        </p:blipFill>
        <p:spPr>
          <a:xfrm>
            <a:off x="162907" y="732134"/>
            <a:ext cx="17972693" cy="9364365"/>
          </a:xfrm>
          <a:prstGeom prst="rect">
            <a:avLst/>
          </a:prstGeom>
        </p:spPr>
      </p:pic>
    </p:spTree>
    <p:extLst>
      <p:ext uri="{BB962C8B-B14F-4D97-AF65-F5344CB8AC3E}">
        <p14:creationId xmlns:p14="http://schemas.microsoft.com/office/powerpoint/2010/main" val="2215230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10" name="Freeform 10"/>
          <p:cNvSpPr/>
          <p:nvPr/>
        </p:nvSpPr>
        <p:spPr>
          <a:xfrm>
            <a:off x="-762000" y="-68541"/>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0" y="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16078200" y="948690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13"/>
          <p:cNvSpPr/>
          <p:nvPr/>
        </p:nvSpPr>
        <p:spPr>
          <a:xfrm>
            <a:off x="17355132" y="9133475"/>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TextBox 20"/>
          <p:cNvSpPr txBox="1"/>
          <p:nvPr/>
        </p:nvSpPr>
        <p:spPr>
          <a:xfrm>
            <a:off x="2514600" y="-743852"/>
            <a:ext cx="12904678" cy="1734706"/>
          </a:xfrm>
          <a:prstGeom prst="rect">
            <a:avLst/>
          </a:prstGeom>
        </p:spPr>
        <p:txBody>
          <a:bodyPr wrap="square" lIns="0" tIns="0" rIns="0" bIns="0" rtlCol="0" anchor="t">
            <a:spAutoFit/>
          </a:bodyPr>
          <a:lstStyle/>
          <a:p>
            <a:pPr algn="ctr">
              <a:lnSpc>
                <a:spcPts val="16206"/>
              </a:lnSpc>
              <a:spcBef>
                <a:spcPct val="0"/>
              </a:spcBef>
            </a:pPr>
            <a:r>
              <a:rPr lang="en-US" sz="6000" b="1" dirty="0">
                <a:solidFill>
                  <a:srgbClr val="A15C64"/>
                </a:solidFill>
                <a:latin typeface="Bobby Jones"/>
              </a:rPr>
              <a:t>Dashboard -3</a:t>
            </a:r>
          </a:p>
        </p:txBody>
      </p:sp>
      <p:sp>
        <p:nvSpPr>
          <p:cNvPr id="23" name="TextBox 23"/>
          <p:cNvSpPr txBox="1"/>
          <p:nvPr/>
        </p:nvSpPr>
        <p:spPr>
          <a:xfrm>
            <a:off x="3214768" y="5159289"/>
            <a:ext cx="1766678" cy="533400"/>
          </a:xfrm>
          <a:prstGeom prst="rect">
            <a:avLst/>
          </a:prstGeom>
        </p:spPr>
        <p:txBody>
          <a:bodyPr lIns="0" tIns="0" rIns="0" bIns="0" rtlCol="0" anchor="t">
            <a:spAutoFit/>
          </a:bodyPr>
          <a:lstStyle/>
          <a:p>
            <a:pPr algn="ctr">
              <a:lnSpc>
                <a:spcPts val="4200"/>
              </a:lnSpc>
              <a:spcBef>
                <a:spcPct val="0"/>
              </a:spcBef>
            </a:pPr>
            <a:r>
              <a:rPr lang="en-US" sz="3000" dirty="0">
                <a:solidFill>
                  <a:srgbClr val="FFF8ED"/>
                </a:solidFill>
                <a:latin typeface="Bobby Jones"/>
              </a:rPr>
              <a:t>2021</a:t>
            </a:r>
          </a:p>
        </p:txBody>
      </p:sp>
      <p:sp>
        <p:nvSpPr>
          <p:cNvPr id="24" name="TextBox 24"/>
          <p:cNvSpPr txBox="1"/>
          <p:nvPr/>
        </p:nvSpPr>
        <p:spPr>
          <a:xfrm>
            <a:off x="5737320"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2022</a:t>
            </a:r>
          </a:p>
        </p:txBody>
      </p:sp>
      <p:sp>
        <p:nvSpPr>
          <p:cNvPr id="25" name="TextBox 25"/>
          <p:cNvSpPr txBox="1"/>
          <p:nvPr/>
        </p:nvSpPr>
        <p:spPr>
          <a:xfrm>
            <a:off x="8258435"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2023</a:t>
            </a:r>
          </a:p>
        </p:txBody>
      </p:sp>
      <p:sp>
        <p:nvSpPr>
          <p:cNvPr id="26" name="TextBox 26"/>
          <p:cNvSpPr txBox="1"/>
          <p:nvPr/>
        </p:nvSpPr>
        <p:spPr>
          <a:xfrm>
            <a:off x="10781513"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2024</a:t>
            </a:r>
          </a:p>
        </p:txBody>
      </p:sp>
      <p:sp>
        <p:nvSpPr>
          <p:cNvPr id="27" name="TextBox 27"/>
          <p:cNvSpPr txBox="1"/>
          <p:nvPr/>
        </p:nvSpPr>
        <p:spPr>
          <a:xfrm>
            <a:off x="13306554"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2025</a:t>
            </a:r>
          </a:p>
        </p:txBody>
      </p:sp>
      <p:pic>
        <p:nvPicPr>
          <p:cNvPr id="6" name="Picture 5">
            <a:extLst>
              <a:ext uri="{FF2B5EF4-FFF2-40B4-BE49-F238E27FC236}">
                <a16:creationId xmlns:a16="http://schemas.microsoft.com/office/drawing/2014/main" id="{AC133B4F-4F31-383A-F5AC-C7B7116D54A1}"/>
              </a:ext>
            </a:extLst>
          </p:cNvPr>
          <p:cNvPicPr>
            <a:picLocks noChangeAspect="1"/>
          </p:cNvPicPr>
          <p:nvPr/>
        </p:nvPicPr>
        <p:blipFill>
          <a:blip r:embed="rId4"/>
          <a:stretch>
            <a:fillRect/>
          </a:stretch>
        </p:blipFill>
        <p:spPr>
          <a:xfrm>
            <a:off x="0" y="990854"/>
            <a:ext cx="18280039" cy="9296146"/>
          </a:xfrm>
          <a:prstGeom prst="rect">
            <a:avLst/>
          </a:prstGeom>
        </p:spPr>
      </p:pic>
    </p:spTree>
    <p:extLst>
      <p:ext uri="{BB962C8B-B14F-4D97-AF65-F5344CB8AC3E}">
        <p14:creationId xmlns:p14="http://schemas.microsoft.com/office/powerpoint/2010/main" val="3283067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10" name="Freeform 10"/>
          <p:cNvSpPr/>
          <p:nvPr/>
        </p:nvSpPr>
        <p:spPr>
          <a:xfrm>
            <a:off x="-762000" y="-68541"/>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0" y="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16078200" y="948690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13"/>
          <p:cNvSpPr/>
          <p:nvPr/>
        </p:nvSpPr>
        <p:spPr>
          <a:xfrm>
            <a:off x="17355132" y="9133475"/>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TextBox 20"/>
          <p:cNvSpPr txBox="1"/>
          <p:nvPr/>
        </p:nvSpPr>
        <p:spPr>
          <a:xfrm>
            <a:off x="2655876" y="-967242"/>
            <a:ext cx="12904678" cy="1699376"/>
          </a:xfrm>
          <a:prstGeom prst="rect">
            <a:avLst/>
          </a:prstGeom>
        </p:spPr>
        <p:txBody>
          <a:bodyPr wrap="square" lIns="0" tIns="0" rIns="0" bIns="0" rtlCol="0" anchor="t">
            <a:spAutoFit/>
          </a:bodyPr>
          <a:lstStyle/>
          <a:p>
            <a:pPr algn="ctr">
              <a:lnSpc>
                <a:spcPts val="16206"/>
              </a:lnSpc>
              <a:spcBef>
                <a:spcPct val="0"/>
              </a:spcBef>
            </a:pPr>
            <a:r>
              <a:rPr lang="en-US" sz="4800" dirty="0">
                <a:solidFill>
                  <a:srgbClr val="A15C64"/>
                </a:solidFill>
                <a:latin typeface="Bobby Jones"/>
              </a:rPr>
              <a:t>How we implement the ML model?</a:t>
            </a:r>
          </a:p>
        </p:txBody>
      </p:sp>
      <p:sp>
        <p:nvSpPr>
          <p:cNvPr id="23" name="TextBox 23"/>
          <p:cNvSpPr txBox="1"/>
          <p:nvPr/>
        </p:nvSpPr>
        <p:spPr>
          <a:xfrm>
            <a:off x="3214768" y="5159289"/>
            <a:ext cx="1766678" cy="533400"/>
          </a:xfrm>
          <a:prstGeom prst="rect">
            <a:avLst/>
          </a:prstGeom>
        </p:spPr>
        <p:txBody>
          <a:bodyPr lIns="0" tIns="0" rIns="0" bIns="0" rtlCol="0" anchor="t">
            <a:spAutoFit/>
          </a:bodyPr>
          <a:lstStyle/>
          <a:p>
            <a:pPr algn="ctr">
              <a:lnSpc>
                <a:spcPts val="4200"/>
              </a:lnSpc>
              <a:spcBef>
                <a:spcPct val="0"/>
              </a:spcBef>
            </a:pPr>
            <a:r>
              <a:rPr lang="en-US" sz="3000" dirty="0">
                <a:solidFill>
                  <a:srgbClr val="FFF8ED"/>
                </a:solidFill>
                <a:latin typeface="Bobby Jones"/>
              </a:rPr>
              <a:t>2021</a:t>
            </a:r>
          </a:p>
        </p:txBody>
      </p:sp>
      <p:sp>
        <p:nvSpPr>
          <p:cNvPr id="24" name="TextBox 24"/>
          <p:cNvSpPr txBox="1"/>
          <p:nvPr/>
        </p:nvSpPr>
        <p:spPr>
          <a:xfrm>
            <a:off x="5737320"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2022</a:t>
            </a:r>
          </a:p>
        </p:txBody>
      </p:sp>
      <p:sp>
        <p:nvSpPr>
          <p:cNvPr id="25" name="TextBox 25"/>
          <p:cNvSpPr txBox="1"/>
          <p:nvPr/>
        </p:nvSpPr>
        <p:spPr>
          <a:xfrm>
            <a:off x="8258435"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2023</a:t>
            </a:r>
          </a:p>
        </p:txBody>
      </p:sp>
      <p:sp>
        <p:nvSpPr>
          <p:cNvPr id="26" name="TextBox 26"/>
          <p:cNvSpPr txBox="1"/>
          <p:nvPr/>
        </p:nvSpPr>
        <p:spPr>
          <a:xfrm>
            <a:off x="10781513"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2024</a:t>
            </a:r>
          </a:p>
        </p:txBody>
      </p:sp>
      <p:sp>
        <p:nvSpPr>
          <p:cNvPr id="27" name="TextBox 27"/>
          <p:cNvSpPr txBox="1"/>
          <p:nvPr/>
        </p:nvSpPr>
        <p:spPr>
          <a:xfrm>
            <a:off x="13306554"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2025</a:t>
            </a:r>
          </a:p>
        </p:txBody>
      </p:sp>
      <p:sp>
        <p:nvSpPr>
          <p:cNvPr id="3" name="TextBox 2">
            <a:extLst>
              <a:ext uri="{FF2B5EF4-FFF2-40B4-BE49-F238E27FC236}">
                <a16:creationId xmlns:a16="http://schemas.microsoft.com/office/drawing/2014/main" id="{99D276B0-C9B4-4217-6901-86A73F756969}"/>
              </a:ext>
            </a:extLst>
          </p:cNvPr>
          <p:cNvSpPr txBox="1"/>
          <p:nvPr/>
        </p:nvSpPr>
        <p:spPr>
          <a:xfrm>
            <a:off x="664378" y="1237224"/>
            <a:ext cx="16719187" cy="7455887"/>
          </a:xfrm>
          <a:prstGeom prst="rect">
            <a:avLst/>
          </a:prstGeom>
          <a:noFill/>
        </p:spPr>
        <p:txBody>
          <a:bodyPr wrap="square">
            <a:spAutoFit/>
          </a:bodyPr>
          <a:lstStyle/>
          <a:p>
            <a:pPr marL="647700" lvl="1" indent="-323850">
              <a:lnSpc>
                <a:spcPct val="150000"/>
              </a:lnSpc>
              <a:spcBef>
                <a:spcPct val="0"/>
              </a:spcBef>
              <a:buFont typeface="Arial"/>
              <a:buChar char="•"/>
            </a:pPr>
            <a:r>
              <a:rPr lang="en-US" sz="3600" dirty="0">
                <a:solidFill>
                  <a:srgbClr val="A15C64"/>
                </a:solidFill>
                <a:latin typeface="Handy Casual"/>
              </a:rPr>
              <a:t>After dashboard, we know our data well and it is better to interpret the complex information quickly.</a:t>
            </a:r>
          </a:p>
          <a:p>
            <a:pPr marL="647700" lvl="1" indent="-323850">
              <a:lnSpc>
                <a:spcPct val="150000"/>
              </a:lnSpc>
              <a:spcBef>
                <a:spcPct val="0"/>
              </a:spcBef>
              <a:buFont typeface="Arial"/>
              <a:buChar char="•"/>
            </a:pPr>
            <a:r>
              <a:rPr lang="en-US" sz="3600" dirty="0">
                <a:solidFill>
                  <a:srgbClr val="A15C64"/>
                </a:solidFill>
                <a:latin typeface="Handy Casual"/>
              </a:rPr>
              <a:t>We decided to move on something more with machine learning model to better understand the life expectancy.</a:t>
            </a:r>
          </a:p>
          <a:p>
            <a:pPr marL="647700" lvl="1" indent="-323850">
              <a:lnSpc>
                <a:spcPct val="150000"/>
              </a:lnSpc>
              <a:spcBef>
                <a:spcPct val="0"/>
              </a:spcBef>
              <a:buFont typeface="Arial"/>
              <a:buChar char="•"/>
            </a:pPr>
            <a:r>
              <a:rPr lang="en-US" sz="3600" dirty="0">
                <a:solidFill>
                  <a:srgbClr val="A15C64"/>
                </a:solidFill>
                <a:latin typeface="Handy Casual"/>
              </a:rPr>
              <a:t>Before the model implementation, we check our data is ready for the model or not , we found out that some categorical column should have to convert into numerical because some model works best on numerical columns</a:t>
            </a:r>
          </a:p>
          <a:p>
            <a:pPr marL="647700" lvl="1" indent="-323850">
              <a:lnSpc>
                <a:spcPct val="150000"/>
              </a:lnSpc>
              <a:spcBef>
                <a:spcPct val="0"/>
              </a:spcBef>
              <a:buFont typeface="Arial"/>
              <a:buChar char="•"/>
            </a:pPr>
            <a:r>
              <a:rPr lang="en-US" sz="3600" dirty="0">
                <a:solidFill>
                  <a:srgbClr val="A15C64"/>
                </a:solidFill>
                <a:latin typeface="Handy Casual"/>
              </a:rPr>
              <a:t>We convert status (Developing ,developed),country into the numerical columns. After that we first choose the features that are corelated with life expectancy according to correlation matrix.</a:t>
            </a:r>
          </a:p>
          <a:p>
            <a:pPr marL="647700" lvl="1" indent="-323850">
              <a:lnSpc>
                <a:spcPct val="150000"/>
              </a:lnSpc>
              <a:spcBef>
                <a:spcPct val="0"/>
              </a:spcBef>
              <a:buFont typeface="Arial"/>
              <a:buChar char="•"/>
            </a:pPr>
            <a:r>
              <a:rPr lang="en-US" sz="3600" dirty="0">
                <a:solidFill>
                  <a:srgbClr val="A15C64"/>
                </a:solidFill>
                <a:latin typeface="Handy Casual"/>
              </a:rPr>
              <a:t>We got better result from Extra tree regressor model and we predict the life expectancy.</a:t>
            </a:r>
          </a:p>
        </p:txBody>
      </p:sp>
    </p:spTree>
    <p:extLst>
      <p:ext uri="{BB962C8B-B14F-4D97-AF65-F5344CB8AC3E}">
        <p14:creationId xmlns:p14="http://schemas.microsoft.com/office/powerpoint/2010/main" val="753171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10" name="Freeform 10"/>
          <p:cNvSpPr/>
          <p:nvPr/>
        </p:nvSpPr>
        <p:spPr>
          <a:xfrm>
            <a:off x="-762000" y="-68541"/>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0" y="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16078200" y="948690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13"/>
          <p:cNvSpPr/>
          <p:nvPr/>
        </p:nvSpPr>
        <p:spPr>
          <a:xfrm>
            <a:off x="17355132" y="9133475"/>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TextBox 20"/>
          <p:cNvSpPr txBox="1"/>
          <p:nvPr/>
        </p:nvSpPr>
        <p:spPr>
          <a:xfrm>
            <a:off x="2655876" y="-967242"/>
            <a:ext cx="12904678" cy="1699376"/>
          </a:xfrm>
          <a:prstGeom prst="rect">
            <a:avLst/>
          </a:prstGeom>
        </p:spPr>
        <p:txBody>
          <a:bodyPr wrap="square" lIns="0" tIns="0" rIns="0" bIns="0" rtlCol="0" anchor="t">
            <a:spAutoFit/>
          </a:bodyPr>
          <a:lstStyle/>
          <a:p>
            <a:pPr algn="ctr">
              <a:lnSpc>
                <a:spcPts val="16206"/>
              </a:lnSpc>
              <a:spcBef>
                <a:spcPct val="0"/>
              </a:spcBef>
            </a:pPr>
            <a:r>
              <a:rPr lang="en-US" sz="4800" dirty="0">
                <a:solidFill>
                  <a:srgbClr val="A15C64"/>
                </a:solidFill>
                <a:latin typeface="Bobby Jones"/>
              </a:rPr>
              <a:t>Model deployment </a:t>
            </a:r>
          </a:p>
        </p:txBody>
      </p:sp>
      <p:sp>
        <p:nvSpPr>
          <p:cNvPr id="23" name="TextBox 23"/>
          <p:cNvSpPr txBox="1"/>
          <p:nvPr/>
        </p:nvSpPr>
        <p:spPr>
          <a:xfrm>
            <a:off x="3214768" y="5159289"/>
            <a:ext cx="1766678" cy="533400"/>
          </a:xfrm>
          <a:prstGeom prst="rect">
            <a:avLst/>
          </a:prstGeom>
        </p:spPr>
        <p:txBody>
          <a:bodyPr lIns="0" tIns="0" rIns="0" bIns="0" rtlCol="0" anchor="t">
            <a:spAutoFit/>
          </a:bodyPr>
          <a:lstStyle/>
          <a:p>
            <a:pPr algn="ctr">
              <a:lnSpc>
                <a:spcPts val="4200"/>
              </a:lnSpc>
              <a:spcBef>
                <a:spcPct val="0"/>
              </a:spcBef>
            </a:pPr>
            <a:r>
              <a:rPr lang="en-US" sz="3000" dirty="0">
                <a:solidFill>
                  <a:srgbClr val="FFF8ED"/>
                </a:solidFill>
                <a:latin typeface="Bobby Jones"/>
              </a:rPr>
              <a:t>2021</a:t>
            </a:r>
          </a:p>
        </p:txBody>
      </p:sp>
      <p:sp>
        <p:nvSpPr>
          <p:cNvPr id="24" name="TextBox 24"/>
          <p:cNvSpPr txBox="1"/>
          <p:nvPr/>
        </p:nvSpPr>
        <p:spPr>
          <a:xfrm>
            <a:off x="5737320"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2022</a:t>
            </a:r>
          </a:p>
        </p:txBody>
      </p:sp>
      <p:sp>
        <p:nvSpPr>
          <p:cNvPr id="25" name="TextBox 25"/>
          <p:cNvSpPr txBox="1"/>
          <p:nvPr/>
        </p:nvSpPr>
        <p:spPr>
          <a:xfrm>
            <a:off x="8258435"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2023</a:t>
            </a:r>
          </a:p>
        </p:txBody>
      </p:sp>
      <p:sp>
        <p:nvSpPr>
          <p:cNvPr id="26" name="TextBox 26"/>
          <p:cNvSpPr txBox="1"/>
          <p:nvPr/>
        </p:nvSpPr>
        <p:spPr>
          <a:xfrm>
            <a:off x="10781513"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2024</a:t>
            </a:r>
          </a:p>
        </p:txBody>
      </p:sp>
      <p:sp>
        <p:nvSpPr>
          <p:cNvPr id="27" name="TextBox 27"/>
          <p:cNvSpPr txBox="1"/>
          <p:nvPr/>
        </p:nvSpPr>
        <p:spPr>
          <a:xfrm>
            <a:off x="13306554"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2025</a:t>
            </a:r>
          </a:p>
        </p:txBody>
      </p:sp>
      <p:sp>
        <p:nvSpPr>
          <p:cNvPr id="3" name="TextBox 2">
            <a:extLst>
              <a:ext uri="{FF2B5EF4-FFF2-40B4-BE49-F238E27FC236}">
                <a16:creationId xmlns:a16="http://schemas.microsoft.com/office/drawing/2014/main" id="{99D276B0-C9B4-4217-6901-86A73F756969}"/>
              </a:ext>
            </a:extLst>
          </p:cNvPr>
          <p:cNvSpPr txBox="1"/>
          <p:nvPr/>
        </p:nvSpPr>
        <p:spPr>
          <a:xfrm>
            <a:off x="664378" y="1237224"/>
            <a:ext cx="16719187" cy="1295226"/>
          </a:xfrm>
          <a:prstGeom prst="rect">
            <a:avLst/>
          </a:prstGeom>
          <a:noFill/>
        </p:spPr>
        <p:txBody>
          <a:bodyPr wrap="square">
            <a:spAutoFit/>
          </a:bodyPr>
          <a:lstStyle/>
          <a:p>
            <a:pPr marL="647700" lvl="1" indent="-323850">
              <a:lnSpc>
                <a:spcPct val="150000"/>
              </a:lnSpc>
              <a:spcBef>
                <a:spcPct val="0"/>
              </a:spcBef>
              <a:buFont typeface="Arial"/>
              <a:buChar char="•"/>
            </a:pPr>
            <a:endParaRPr lang="en-US" sz="2800" dirty="0">
              <a:solidFill>
                <a:srgbClr val="A15C64"/>
              </a:solidFill>
              <a:latin typeface="Handy Casual"/>
            </a:endParaRPr>
          </a:p>
          <a:p>
            <a:pPr marL="647700" lvl="1" indent="-323850">
              <a:lnSpc>
                <a:spcPct val="150000"/>
              </a:lnSpc>
              <a:spcBef>
                <a:spcPct val="0"/>
              </a:spcBef>
              <a:buFont typeface="Arial"/>
              <a:buChar char="•"/>
            </a:pPr>
            <a:endParaRPr lang="en-US" sz="2800" dirty="0">
              <a:solidFill>
                <a:srgbClr val="A15C64"/>
              </a:solidFill>
              <a:latin typeface="Handy Casual"/>
            </a:endParaRPr>
          </a:p>
        </p:txBody>
      </p:sp>
      <p:sp>
        <p:nvSpPr>
          <p:cNvPr id="6" name="TextBox 5">
            <a:extLst>
              <a:ext uri="{FF2B5EF4-FFF2-40B4-BE49-F238E27FC236}">
                <a16:creationId xmlns:a16="http://schemas.microsoft.com/office/drawing/2014/main" id="{D0D60128-7438-21D8-0DA4-B5109989768A}"/>
              </a:ext>
            </a:extLst>
          </p:cNvPr>
          <p:cNvSpPr txBox="1"/>
          <p:nvPr/>
        </p:nvSpPr>
        <p:spPr>
          <a:xfrm>
            <a:off x="664378" y="1237224"/>
            <a:ext cx="16719187" cy="1295226"/>
          </a:xfrm>
          <a:prstGeom prst="rect">
            <a:avLst/>
          </a:prstGeom>
          <a:noFill/>
        </p:spPr>
        <p:txBody>
          <a:bodyPr wrap="square">
            <a:spAutoFit/>
          </a:bodyPr>
          <a:lstStyle/>
          <a:p>
            <a:pPr marL="323850" lvl="1">
              <a:lnSpc>
                <a:spcPct val="150000"/>
              </a:lnSpc>
              <a:spcBef>
                <a:spcPct val="0"/>
              </a:spcBef>
            </a:pPr>
            <a:endParaRPr lang="en-US" sz="2800" dirty="0">
              <a:solidFill>
                <a:srgbClr val="A15C64"/>
              </a:solidFill>
              <a:latin typeface="Handy Casual"/>
            </a:endParaRPr>
          </a:p>
          <a:p>
            <a:pPr marL="647700" lvl="1" indent="-323850">
              <a:lnSpc>
                <a:spcPct val="150000"/>
              </a:lnSpc>
              <a:spcBef>
                <a:spcPct val="0"/>
              </a:spcBef>
              <a:buFont typeface="Arial"/>
              <a:buChar char="•"/>
            </a:pPr>
            <a:endParaRPr lang="en-US" sz="2800" dirty="0">
              <a:solidFill>
                <a:srgbClr val="A15C64"/>
              </a:solidFill>
              <a:latin typeface="Handy Casual"/>
            </a:endParaRPr>
          </a:p>
        </p:txBody>
      </p:sp>
      <p:sp>
        <p:nvSpPr>
          <p:cNvPr id="7" name="TextBox 6">
            <a:extLst>
              <a:ext uri="{FF2B5EF4-FFF2-40B4-BE49-F238E27FC236}">
                <a16:creationId xmlns:a16="http://schemas.microsoft.com/office/drawing/2014/main" id="{C08C3044-206D-F0AA-7818-25B5248A0143}"/>
              </a:ext>
            </a:extLst>
          </p:cNvPr>
          <p:cNvSpPr txBox="1"/>
          <p:nvPr/>
        </p:nvSpPr>
        <p:spPr>
          <a:xfrm>
            <a:off x="664378" y="1237224"/>
            <a:ext cx="16719187" cy="7455887"/>
          </a:xfrm>
          <a:prstGeom prst="rect">
            <a:avLst/>
          </a:prstGeom>
          <a:noFill/>
        </p:spPr>
        <p:txBody>
          <a:bodyPr wrap="square">
            <a:spAutoFit/>
          </a:bodyPr>
          <a:lstStyle/>
          <a:p>
            <a:pPr marL="647700" lvl="1" indent="-323850">
              <a:lnSpc>
                <a:spcPct val="150000"/>
              </a:lnSpc>
              <a:spcBef>
                <a:spcPct val="0"/>
              </a:spcBef>
              <a:buFont typeface="Arial"/>
              <a:buChar char="•"/>
            </a:pPr>
            <a:r>
              <a:rPr lang="en-US" sz="3600" dirty="0">
                <a:solidFill>
                  <a:srgbClr val="A15C64"/>
                </a:solidFill>
                <a:latin typeface="Handy Casual"/>
              </a:rPr>
              <a:t>Once the data is prepared, it is fed into the loaded Extra tree regression model. The model applies the learned coefficients to the input features and calculates the predicted life expectancy.</a:t>
            </a:r>
          </a:p>
          <a:p>
            <a:pPr marL="647700" lvl="1" indent="-323850">
              <a:lnSpc>
                <a:spcPct val="150000"/>
              </a:lnSpc>
              <a:spcBef>
                <a:spcPct val="0"/>
              </a:spcBef>
              <a:buFont typeface="Arial"/>
              <a:buChar char="•"/>
            </a:pPr>
            <a:r>
              <a:rPr lang="en-US" sz="3600" dirty="0">
                <a:solidFill>
                  <a:srgbClr val="A15C64"/>
                </a:solidFill>
                <a:latin typeface="Handy Casual"/>
              </a:rPr>
              <a:t>The predicted life expectancy is obtained from the model and can be displayed to the user. This can be done by updating the web page with the predicted value or by presenting it in a user-friendly format.</a:t>
            </a:r>
          </a:p>
          <a:p>
            <a:pPr marL="647700" lvl="1" indent="-323850">
              <a:lnSpc>
                <a:spcPct val="150000"/>
              </a:lnSpc>
              <a:spcBef>
                <a:spcPct val="0"/>
              </a:spcBef>
              <a:buFont typeface="Arial"/>
              <a:buChar char="•"/>
            </a:pPr>
            <a:r>
              <a:rPr lang="en-US" sz="3600" dirty="0">
                <a:solidFill>
                  <a:srgbClr val="A15C64"/>
                </a:solidFill>
                <a:latin typeface="Handy Casual"/>
              </a:rPr>
              <a:t>Flask application was developed to provide a user interface for predicting life expectancy based on the given features. </a:t>
            </a:r>
          </a:p>
          <a:p>
            <a:pPr marL="647700" lvl="1" indent="-323850">
              <a:lnSpc>
                <a:spcPct val="150000"/>
              </a:lnSpc>
              <a:spcBef>
                <a:spcPct val="0"/>
              </a:spcBef>
              <a:buFont typeface="Arial"/>
              <a:buChar char="•"/>
            </a:pPr>
            <a:r>
              <a:rPr lang="en-US" sz="3600" dirty="0">
                <a:solidFill>
                  <a:srgbClr val="A15C64"/>
                </a:solidFill>
                <a:latin typeface="Handy Casual"/>
              </a:rPr>
              <a:t>The Flask framework was used to handle the backend logic and routing, while HTML and CSS were used to design and structure the frontend interface.</a:t>
            </a:r>
          </a:p>
          <a:p>
            <a:pPr marL="647700" lvl="1" indent="-323850">
              <a:lnSpc>
                <a:spcPct val="150000"/>
              </a:lnSpc>
              <a:spcBef>
                <a:spcPct val="0"/>
              </a:spcBef>
              <a:buFont typeface="Arial"/>
              <a:buChar char="•"/>
            </a:pPr>
            <a:r>
              <a:rPr lang="en-US" sz="3600" dirty="0">
                <a:solidFill>
                  <a:srgbClr val="A15C64"/>
                </a:solidFill>
                <a:latin typeface="Handy Casual"/>
              </a:rPr>
              <a:t>The Flask app allowed users to input the relevant feature values through a form or user interface. </a:t>
            </a:r>
          </a:p>
        </p:txBody>
      </p:sp>
    </p:spTree>
    <p:extLst>
      <p:ext uri="{BB962C8B-B14F-4D97-AF65-F5344CB8AC3E}">
        <p14:creationId xmlns:p14="http://schemas.microsoft.com/office/powerpoint/2010/main" val="2941289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10" name="Freeform 10"/>
          <p:cNvSpPr/>
          <p:nvPr/>
        </p:nvSpPr>
        <p:spPr>
          <a:xfrm>
            <a:off x="-762000" y="-68541"/>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0" y="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16078200" y="948690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13"/>
          <p:cNvSpPr/>
          <p:nvPr/>
        </p:nvSpPr>
        <p:spPr>
          <a:xfrm>
            <a:off x="17355132" y="9133475"/>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TextBox 20"/>
          <p:cNvSpPr txBox="1"/>
          <p:nvPr/>
        </p:nvSpPr>
        <p:spPr>
          <a:xfrm>
            <a:off x="2655876" y="-967242"/>
            <a:ext cx="12904678" cy="1699376"/>
          </a:xfrm>
          <a:prstGeom prst="rect">
            <a:avLst/>
          </a:prstGeom>
        </p:spPr>
        <p:txBody>
          <a:bodyPr wrap="square" lIns="0" tIns="0" rIns="0" bIns="0" rtlCol="0" anchor="t">
            <a:spAutoFit/>
          </a:bodyPr>
          <a:lstStyle/>
          <a:p>
            <a:pPr algn="ctr">
              <a:lnSpc>
                <a:spcPts val="16206"/>
              </a:lnSpc>
              <a:spcBef>
                <a:spcPct val="0"/>
              </a:spcBef>
            </a:pPr>
            <a:r>
              <a:rPr lang="en-US" sz="4800" dirty="0">
                <a:solidFill>
                  <a:srgbClr val="A15C64"/>
                </a:solidFill>
                <a:latin typeface="Bobby Jones"/>
              </a:rPr>
              <a:t>UI</a:t>
            </a:r>
          </a:p>
        </p:txBody>
      </p:sp>
      <p:sp>
        <p:nvSpPr>
          <p:cNvPr id="23" name="TextBox 23"/>
          <p:cNvSpPr txBox="1"/>
          <p:nvPr/>
        </p:nvSpPr>
        <p:spPr>
          <a:xfrm>
            <a:off x="3214768" y="5159289"/>
            <a:ext cx="1766678" cy="533400"/>
          </a:xfrm>
          <a:prstGeom prst="rect">
            <a:avLst/>
          </a:prstGeom>
        </p:spPr>
        <p:txBody>
          <a:bodyPr lIns="0" tIns="0" rIns="0" bIns="0" rtlCol="0" anchor="t">
            <a:spAutoFit/>
          </a:bodyPr>
          <a:lstStyle/>
          <a:p>
            <a:pPr algn="ctr">
              <a:lnSpc>
                <a:spcPts val="4200"/>
              </a:lnSpc>
              <a:spcBef>
                <a:spcPct val="0"/>
              </a:spcBef>
            </a:pPr>
            <a:r>
              <a:rPr lang="en-US" sz="3000" dirty="0">
                <a:solidFill>
                  <a:srgbClr val="FFF8ED"/>
                </a:solidFill>
                <a:latin typeface="Bobby Jones"/>
              </a:rPr>
              <a:t>2021</a:t>
            </a:r>
          </a:p>
        </p:txBody>
      </p:sp>
      <p:sp>
        <p:nvSpPr>
          <p:cNvPr id="24" name="TextBox 24"/>
          <p:cNvSpPr txBox="1"/>
          <p:nvPr/>
        </p:nvSpPr>
        <p:spPr>
          <a:xfrm>
            <a:off x="5737320"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2022</a:t>
            </a:r>
          </a:p>
        </p:txBody>
      </p:sp>
      <p:sp>
        <p:nvSpPr>
          <p:cNvPr id="25" name="TextBox 25"/>
          <p:cNvSpPr txBox="1"/>
          <p:nvPr/>
        </p:nvSpPr>
        <p:spPr>
          <a:xfrm>
            <a:off x="8258435"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2023</a:t>
            </a:r>
          </a:p>
        </p:txBody>
      </p:sp>
      <p:sp>
        <p:nvSpPr>
          <p:cNvPr id="26" name="TextBox 26"/>
          <p:cNvSpPr txBox="1"/>
          <p:nvPr/>
        </p:nvSpPr>
        <p:spPr>
          <a:xfrm>
            <a:off x="10781513"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2024</a:t>
            </a:r>
          </a:p>
        </p:txBody>
      </p:sp>
      <p:sp>
        <p:nvSpPr>
          <p:cNvPr id="27" name="TextBox 27"/>
          <p:cNvSpPr txBox="1"/>
          <p:nvPr/>
        </p:nvSpPr>
        <p:spPr>
          <a:xfrm>
            <a:off x="13306554"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2025</a:t>
            </a:r>
          </a:p>
        </p:txBody>
      </p:sp>
      <p:pic>
        <p:nvPicPr>
          <p:cNvPr id="3" name="Picture 2">
            <a:extLst>
              <a:ext uri="{FF2B5EF4-FFF2-40B4-BE49-F238E27FC236}">
                <a16:creationId xmlns:a16="http://schemas.microsoft.com/office/drawing/2014/main" id="{763A54BA-0DF3-37EF-CBB0-2D903760A02B}"/>
              </a:ext>
            </a:extLst>
          </p:cNvPr>
          <p:cNvPicPr>
            <a:picLocks noChangeAspect="1"/>
          </p:cNvPicPr>
          <p:nvPr/>
        </p:nvPicPr>
        <p:blipFill>
          <a:blip r:embed="rId4"/>
          <a:stretch>
            <a:fillRect/>
          </a:stretch>
        </p:blipFill>
        <p:spPr>
          <a:xfrm>
            <a:off x="10007" y="759348"/>
            <a:ext cx="18277993" cy="9502062"/>
          </a:xfrm>
          <a:prstGeom prst="rect">
            <a:avLst/>
          </a:prstGeom>
        </p:spPr>
      </p:pic>
    </p:spTree>
    <p:extLst>
      <p:ext uri="{BB962C8B-B14F-4D97-AF65-F5344CB8AC3E}">
        <p14:creationId xmlns:p14="http://schemas.microsoft.com/office/powerpoint/2010/main" val="40446431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10" name="Freeform 10"/>
          <p:cNvSpPr/>
          <p:nvPr/>
        </p:nvSpPr>
        <p:spPr>
          <a:xfrm>
            <a:off x="-762000" y="-68541"/>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0" y="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16078200" y="948690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13"/>
          <p:cNvSpPr/>
          <p:nvPr/>
        </p:nvSpPr>
        <p:spPr>
          <a:xfrm>
            <a:off x="17355132" y="9133475"/>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TextBox 20"/>
          <p:cNvSpPr txBox="1"/>
          <p:nvPr/>
        </p:nvSpPr>
        <p:spPr>
          <a:xfrm>
            <a:off x="2655876" y="-967242"/>
            <a:ext cx="12904678" cy="1699376"/>
          </a:xfrm>
          <a:prstGeom prst="rect">
            <a:avLst/>
          </a:prstGeom>
        </p:spPr>
        <p:txBody>
          <a:bodyPr wrap="square" lIns="0" tIns="0" rIns="0" bIns="0" rtlCol="0" anchor="t">
            <a:spAutoFit/>
          </a:bodyPr>
          <a:lstStyle/>
          <a:p>
            <a:pPr algn="ctr">
              <a:lnSpc>
                <a:spcPts val="16206"/>
              </a:lnSpc>
              <a:spcBef>
                <a:spcPct val="0"/>
              </a:spcBef>
            </a:pPr>
            <a:r>
              <a:rPr lang="en-US" sz="4800" dirty="0">
                <a:solidFill>
                  <a:srgbClr val="A15C64"/>
                </a:solidFill>
                <a:latin typeface="Bobby Jones"/>
              </a:rPr>
              <a:t>UI</a:t>
            </a:r>
          </a:p>
        </p:txBody>
      </p:sp>
      <p:sp>
        <p:nvSpPr>
          <p:cNvPr id="23" name="TextBox 23"/>
          <p:cNvSpPr txBox="1"/>
          <p:nvPr/>
        </p:nvSpPr>
        <p:spPr>
          <a:xfrm>
            <a:off x="3214768" y="5159289"/>
            <a:ext cx="1766678" cy="533400"/>
          </a:xfrm>
          <a:prstGeom prst="rect">
            <a:avLst/>
          </a:prstGeom>
        </p:spPr>
        <p:txBody>
          <a:bodyPr lIns="0" tIns="0" rIns="0" bIns="0" rtlCol="0" anchor="t">
            <a:spAutoFit/>
          </a:bodyPr>
          <a:lstStyle/>
          <a:p>
            <a:pPr algn="ctr">
              <a:lnSpc>
                <a:spcPts val="4200"/>
              </a:lnSpc>
              <a:spcBef>
                <a:spcPct val="0"/>
              </a:spcBef>
            </a:pPr>
            <a:r>
              <a:rPr lang="en-US" sz="3000" dirty="0">
                <a:solidFill>
                  <a:srgbClr val="FFF8ED"/>
                </a:solidFill>
                <a:latin typeface="Bobby Jones"/>
              </a:rPr>
              <a:t>2021</a:t>
            </a:r>
          </a:p>
        </p:txBody>
      </p:sp>
      <p:sp>
        <p:nvSpPr>
          <p:cNvPr id="24" name="TextBox 24"/>
          <p:cNvSpPr txBox="1"/>
          <p:nvPr/>
        </p:nvSpPr>
        <p:spPr>
          <a:xfrm>
            <a:off x="5737320"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2022</a:t>
            </a:r>
          </a:p>
        </p:txBody>
      </p:sp>
      <p:sp>
        <p:nvSpPr>
          <p:cNvPr id="25" name="TextBox 25"/>
          <p:cNvSpPr txBox="1"/>
          <p:nvPr/>
        </p:nvSpPr>
        <p:spPr>
          <a:xfrm>
            <a:off x="8258435"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2023</a:t>
            </a:r>
          </a:p>
        </p:txBody>
      </p:sp>
      <p:sp>
        <p:nvSpPr>
          <p:cNvPr id="26" name="TextBox 26"/>
          <p:cNvSpPr txBox="1"/>
          <p:nvPr/>
        </p:nvSpPr>
        <p:spPr>
          <a:xfrm>
            <a:off x="10781513"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2024</a:t>
            </a:r>
          </a:p>
        </p:txBody>
      </p:sp>
      <p:sp>
        <p:nvSpPr>
          <p:cNvPr id="27" name="TextBox 27"/>
          <p:cNvSpPr txBox="1"/>
          <p:nvPr/>
        </p:nvSpPr>
        <p:spPr>
          <a:xfrm>
            <a:off x="13306554"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2025</a:t>
            </a:r>
          </a:p>
        </p:txBody>
      </p:sp>
      <p:pic>
        <p:nvPicPr>
          <p:cNvPr id="3" name="Picture 2">
            <a:extLst>
              <a:ext uri="{FF2B5EF4-FFF2-40B4-BE49-F238E27FC236}">
                <a16:creationId xmlns:a16="http://schemas.microsoft.com/office/drawing/2014/main" id="{B41A9A2B-823A-E865-B2A9-EE437C3E6FD5}"/>
              </a:ext>
            </a:extLst>
          </p:cNvPr>
          <p:cNvPicPr>
            <a:picLocks noChangeAspect="1"/>
          </p:cNvPicPr>
          <p:nvPr/>
        </p:nvPicPr>
        <p:blipFill>
          <a:blip r:embed="rId4"/>
          <a:stretch>
            <a:fillRect/>
          </a:stretch>
        </p:blipFill>
        <p:spPr>
          <a:xfrm>
            <a:off x="0" y="806118"/>
            <a:ext cx="18287999" cy="9455292"/>
          </a:xfrm>
          <a:prstGeom prst="rect">
            <a:avLst/>
          </a:prstGeom>
        </p:spPr>
      </p:pic>
    </p:spTree>
    <p:extLst>
      <p:ext uri="{BB962C8B-B14F-4D97-AF65-F5344CB8AC3E}">
        <p14:creationId xmlns:p14="http://schemas.microsoft.com/office/powerpoint/2010/main" val="2388188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10" name="Freeform 10"/>
          <p:cNvSpPr/>
          <p:nvPr/>
        </p:nvSpPr>
        <p:spPr>
          <a:xfrm>
            <a:off x="-762000" y="-68541"/>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0" y="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16078200" y="9486900"/>
            <a:ext cx="812500" cy="990854"/>
          </a:xfrm>
          <a:custGeom>
            <a:avLst/>
            <a:gdLst/>
            <a:ahLst/>
            <a:cxnLst/>
            <a:rect l="l" t="t" r="r" b="b"/>
            <a:pathLst>
              <a:path w="812500" h="990854">
                <a:moveTo>
                  <a:pt x="0" y="0"/>
                </a:moveTo>
                <a:lnTo>
                  <a:pt x="812500" y="0"/>
                </a:lnTo>
                <a:lnTo>
                  <a:pt x="812500" y="990854"/>
                </a:lnTo>
                <a:lnTo>
                  <a:pt x="0" y="9908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13"/>
          <p:cNvSpPr/>
          <p:nvPr/>
        </p:nvSpPr>
        <p:spPr>
          <a:xfrm>
            <a:off x="17355132" y="9133475"/>
            <a:ext cx="924907" cy="1127935"/>
          </a:xfrm>
          <a:custGeom>
            <a:avLst/>
            <a:gdLst/>
            <a:ahLst/>
            <a:cxnLst/>
            <a:rect l="l" t="t" r="r" b="b"/>
            <a:pathLst>
              <a:path w="924907" h="1127935">
                <a:moveTo>
                  <a:pt x="0" y="0"/>
                </a:moveTo>
                <a:lnTo>
                  <a:pt x="924907" y="0"/>
                </a:lnTo>
                <a:lnTo>
                  <a:pt x="924907" y="1127935"/>
                </a:lnTo>
                <a:lnTo>
                  <a:pt x="0" y="11279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TextBox 20"/>
          <p:cNvSpPr txBox="1"/>
          <p:nvPr/>
        </p:nvSpPr>
        <p:spPr>
          <a:xfrm>
            <a:off x="2655876" y="-967242"/>
            <a:ext cx="12904678" cy="1699376"/>
          </a:xfrm>
          <a:prstGeom prst="rect">
            <a:avLst/>
          </a:prstGeom>
        </p:spPr>
        <p:txBody>
          <a:bodyPr wrap="square" lIns="0" tIns="0" rIns="0" bIns="0" rtlCol="0" anchor="t">
            <a:spAutoFit/>
          </a:bodyPr>
          <a:lstStyle/>
          <a:p>
            <a:pPr algn="ctr">
              <a:lnSpc>
                <a:spcPts val="16206"/>
              </a:lnSpc>
              <a:spcBef>
                <a:spcPct val="0"/>
              </a:spcBef>
            </a:pPr>
            <a:r>
              <a:rPr lang="en-US" sz="4800" dirty="0">
                <a:solidFill>
                  <a:srgbClr val="A15C64"/>
                </a:solidFill>
                <a:latin typeface="Bobby Jones"/>
              </a:rPr>
              <a:t>Conclusion</a:t>
            </a:r>
          </a:p>
        </p:txBody>
      </p:sp>
      <p:sp>
        <p:nvSpPr>
          <p:cNvPr id="23" name="TextBox 23"/>
          <p:cNvSpPr txBox="1"/>
          <p:nvPr/>
        </p:nvSpPr>
        <p:spPr>
          <a:xfrm>
            <a:off x="3214768" y="5159289"/>
            <a:ext cx="1766678" cy="533400"/>
          </a:xfrm>
          <a:prstGeom prst="rect">
            <a:avLst/>
          </a:prstGeom>
        </p:spPr>
        <p:txBody>
          <a:bodyPr lIns="0" tIns="0" rIns="0" bIns="0" rtlCol="0" anchor="t">
            <a:spAutoFit/>
          </a:bodyPr>
          <a:lstStyle/>
          <a:p>
            <a:pPr algn="ctr">
              <a:lnSpc>
                <a:spcPts val="4200"/>
              </a:lnSpc>
              <a:spcBef>
                <a:spcPct val="0"/>
              </a:spcBef>
            </a:pPr>
            <a:r>
              <a:rPr lang="en-US" sz="3000" dirty="0">
                <a:solidFill>
                  <a:srgbClr val="FFF8ED"/>
                </a:solidFill>
                <a:latin typeface="Bobby Jones"/>
              </a:rPr>
              <a:t>2021</a:t>
            </a:r>
          </a:p>
        </p:txBody>
      </p:sp>
      <p:sp>
        <p:nvSpPr>
          <p:cNvPr id="24" name="TextBox 24"/>
          <p:cNvSpPr txBox="1"/>
          <p:nvPr/>
        </p:nvSpPr>
        <p:spPr>
          <a:xfrm>
            <a:off x="5737320"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2022</a:t>
            </a:r>
          </a:p>
        </p:txBody>
      </p:sp>
      <p:sp>
        <p:nvSpPr>
          <p:cNvPr id="25" name="TextBox 25"/>
          <p:cNvSpPr txBox="1"/>
          <p:nvPr/>
        </p:nvSpPr>
        <p:spPr>
          <a:xfrm>
            <a:off x="8258435"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2023</a:t>
            </a:r>
          </a:p>
        </p:txBody>
      </p:sp>
      <p:sp>
        <p:nvSpPr>
          <p:cNvPr id="26" name="TextBox 26"/>
          <p:cNvSpPr txBox="1"/>
          <p:nvPr/>
        </p:nvSpPr>
        <p:spPr>
          <a:xfrm>
            <a:off x="10781513"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2024</a:t>
            </a:r>
          </a:p>
        </p:txBody>
      </p:sp>
      <p:sp>
        <p:nvSpPr>
          <p:cNvPr id="27" name="TextBox 27"/>
          <p:cNvSpPr txBox="1"/>
          <p:nvPr/>
        </p:nvSpPr>
        <p:spPr>
          <a:xfrm>
            <a:off x="13306554" y="5159289"/>
            <a:ext cx="1766678" cy="533400"/>
          </a:xfrm>
          <a:prstGeom prst="rect">
            <a:avLst/>
          </a:prstGeom>
        </p:spPr>
        <p:txBody>
          <a:bodyPr lIns="0" tIns="0" rIns="0" bIns="0" rtlCol="0" anchor="t">
            <a:spAutoFit/>
          </a:bodyPr>
          <a:lstStyle/>
          <a:p>
            <a:pPr marL="0" lvl="0" indent="0" algn="ctr">
              <a:lnSpc>
                <a:spcPts val="4200"/>
              </a:lnSpc>
              <a:spcBef>
                <a:spcPct val="0"/>
              </a:spcBef>
            </a:pPr>
            <a:r>
              <a:rPr lang="en-US" sz="3000" u="none">
                <a:solidFill>
                  <a:srgbClr val="FFF8ED"/>
                </a:solidFill>
                <a:latin typeface="Bobby Jones"/>
              </a:rPr>
              <a:t>2025</a:t>
            </a:r>
          </a:p>
        </p:txBody>
      </p:sp>
      <p:sp>
        <p:nvSpPr>
          <p:cNvPr id="2" name="TextBox 1">
            <a:extLst>
              <a:ext uri="{FF2B5EF4-FFF2-40B4-BE49-F238E27FC236}">
                <a16:creationId xmlns:a16="http://schemas.microsoft.com/office/drawing/2014/main" id="{12181784-45CE-62EC-B217-5828EEEAE5A8}"/>
              </a:ext>
            </a:extLst>
          </p:cNvPr>
          <p:cNvSpPr txBox="1"/>
          <p:nvPr/>
        </p:nvSpPr>
        <p:spPr>
          <a:xfrm>
            <a:off x="664378" y="1237224"/>
            <a:ext cx="16719187" cy="8286884"/>
          </a:xfrm>
          <a:prstGeom prst="rect">
            <a:avLst/>
          </a:prstGeom>
          <a:noFill/>
        </p:spPr>
        <p:txBody>
          <a:bodyPr wrap="square">
            <a:spAutoFit/>
          </a:bodyPr>
          <a:lstStyle/>
          <a:p>
            <a:pPr marL="647700" lvl="1" indent="-323850">
              <a:lnSpc>
                <a:spcPct val="150000"/>
              </a:lnSpc>
              <a:spcBef>
                <a:spcPct val="0"/>
              </a:spcBef>
              <a:buFont typeface="Arial"/>
              <a:buChar char="•"/>
            </a:pPr>
            <a:r>
              <a:rPr lang="en-US" sz="3600" dirty="0">
                <a:solidFill>
                  <a:srgbClr val="A15C64"/>
                </a:solidFill>
                <a:latin typeface="Handy Casual"/>
              </a:rPr>
              <a:t>In this project, we successfully developed a predictive model for life expectancy worldwide. Our analysis revealed important factors that contribute to variations in life expectancy across different regions and countries.</a:t>
            </a:r>
          </a:p>
          <a:p>
            <a:pPr marL="647700" lvl="1" indent="-323850">
              <a:lnSpc>
                <a:spcPct val="150000"/>
              </a:lnSpc>
              <a:spcBef>
                <a:spcPct val="0"/>
              </a:spcBef>
              <a:buFont typeface="Arial"/>
              <a:buChar char="•"/>
            </a:pPr>
            <a:r>
              <a:rPr lang="en-US" sz="3600" dirty="0">
                <a:solidFill>
                  <a:srgbClr val="A15C64"/>
                </a:solidFill>
                <a:latin typeface="Handy Casual"/>
              </a:rPr>
              <a:t>By incorporating data on healthcare access, economic indicators, education levels, and other demographic variables, our model was able to provide accurate predictions for life expectancy.</a:t>
            </a:r>
          </a:p>
          <a:p>
            <a:pPr marL="647700" lvl="1" indent="-323850">
              <a:lnSpc>
                <a:spcPct val="150000"/>
              </a:lnSpc>
              <a:spcBef>
                <a:spcPct val="0"/>
              </a:spcBef>
              <a:buFont typeface="Arial"/>
              <a:buChar char="•"/>
            </a:pPr>
            <a:r>
              <a:rPr lang="en-US" sz="3600" dirty="0">
                <a:solidFill>
                  <a:srgbClr val="A15C64"/>
                </a:solidFill>
                <a:latin typeface="Handy Casual"/>
              </a:rPr>
              <a:t>Preventative measures, such as vaccination programs and health education campaigns, are crucial for improving life expectancy.</a:t>
            </a:r>
          </a:p>
          <a:p>
            <a:pPr marL="647700" lvl="1" indent="-323850">
              <a:lnSpc>
                <a:spcPct val="150000"/>
              </a:lnSpc>
              <a:spcBef>
                <a:spcPct val="0"/>
              </a:spcBef>
              <a:buFont typeface="Arial"/>
              <a:buChar char="•"/>
            </a:pPr>
            <a:r>
              <a:rPr lang="en-US" sz="3600" dirty="0">
                <a:solidFill>
                  <a:srgbClr val="A15C64"/>
                </a:solidFill>
                <a:latin typeface="Handy Casual"/>
              </a:rPr>
              <a:t>By prioritizing public health initiatives and promoting equitable access to resources, policymakers and organizations can work towards improving life expectancy globally.</a:t>
            </a:r>
          </a:p>
          <a:p>
            <a:pPr marL="647700" lvl="1" indent="-323850">
              <a:lnSpc>
                <a:spcPct val="150000"/>
              </a:lnSpc>
              <a:spcBef>
                <a:spcPct val="0"/>
              </a:spcBef>
              <a:buFont typeface="Arial"/>
              <a:buChar char="•"/>
            </a:pPr>
            <a:r>
              <a:rPr lang="en-US" sz="3600" dirty="0">
                <a:solidFill>
                  <a:srgbClr val="A15C64"/>
                </a:solidFill>
                <a:latin typeface="Handy Casual"/>
              </a:rPr>
              <a:t>Moreover, continuous updates to the model with new data will ensure its relevance and accuracy over time.</a:t>
            </a:r>
          </a:p>
        </p:txBody>
      </p:sp>
    </p:spTree>
    <p:extLst>
      <p:ext uri="{BB962C8B-B14F-4D97-AF65-F5344CB8AC3E}">
        <p14:creationId xmlns:p14="http://schemas.microsoft.com/office/powerpoint/2010/main" val="11955763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3" name="Freeform 3"/>
          <p:cNvSpPr/>
          <p:nvPr/>
        </p:nvSpPr>
        <p:spPr>
          <a:xfrm>
            <a:off x="14814557" y="6816662"/>
            <a:ext cx="1915555" cy="2336042"/>
          </a:xfrm>
          <a:custGeom>
            <a:avLst/>
            <a:gdLst/>
            <a:ahLst/>
            <a:cxnLst/>
            <a:rect l="l" t="t" r="r" b="b"/>
            <a:pathLst>
              <a:path w="1915555" h="2336042">
                <a:moveTo>
                  <a:pt x="0" y="0"/>
                </a:moveTo>
                <a:lnTo>
                  <a:pt x="1915555" y="0"/>
                </a:lnTo>
                <a:lnTo>
                  <a:pt x="1915555" y="2336042"/>
                </a:lnTo>
                <a:lnTo>
                  <a:pt x="0" y="23360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6535400" y="8724900"/>
            <a:ext cx="1055169" cy="1286791"/>
          </a:xfrm>
          <a:custGeom>
            <a:avLst/>
            <a:gdLst/>
            <a:ahLst/>
            <a:cxnLst/>
            <a:rect l="l" t="t" r="r" b="b"/>
            <a:pathLst>
              <a:path w="1055169" h="1286791">
                <a:moveTo>
                  <a:pt x="0" y="0"/>
                </a:moveTo>
                <a:lnTo>
                  <a:pt x="1055168" y="0"/>
                </a:lnTo>
                <a:lnTo>
                  <a:pt x="1055168" y="1286791"/>
                </a:lnTo>
                <a:lnTo>
                  <a:pt x="0" y="12867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6" name="Freeform 6"/>
          <p:cNvSpPr/>
          <p:nvPr/>
        </p:nvSpPr>
        <p:spPr>
          <a:xfrm>
            <a:off x="4179928" y="2948199"/>
            <a:ext cx="1192501" cy="1192501"/>
          </a:xfrm>
          <a:custGeom>
            <a:avLst/>
            <a:gdLst/>
            <a:ahLst/>
            <a:cxnLst/>
            <a:rect l="l" t="t" r="r" b="b"/>
            <a:pathLst>
              <a:path w="1192501" h="1192501">
                <a:moveTo>
                  <a:pt x="0" y="0"/>
                </a:moveTo>
                <a:lnTo>
                  <a:pt x="1192500" y="0"/>
                </a:lnTo>
                <a:lnTo>
                  <a:pt x="1192500" y="1192501"/>
                </a:lnTo>
                <a:lnTo>
                  <a:pt x="0" y="11925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15468600" y="2598519"/>
            <a:ext cx="2414918" cy="1267832"/>
          </a:xfrm>
          <a:custGeom>
            <a:avLst/>
            <a:gdLst/>
            <a:ahLst/>
            <a:cxnLst/>
            <a:rect l="l" t="t" r="r" b="b"/>
            <a:pathLst>
              <a:path w="2414918" h="1267832">
                <a:moveTo>
                  <a:pt x="0" y="0"/>
                </a:moveTo>
                <a:lnTo>
                  <a:pt x="2414917" y="0"/>
                </a:lnTo>
                <a:lnTo>
                  <a:pt x="2414917" y="1267832"/>
                </a:lnTo>
                <a:lnTo>
                  <a:pt x="0" y="12678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TextBox 11"/>
          <p:cNvSpPr txBox="1"/>
          <p:nvPr/>
        </p:nvSpPr>
        <p:spPr>
          <a:xfrm>
            <a:off x="3580744" y="2595055"/>
            <a:ext cx="11126513" cy="1898790"/>
          </a:xfrm>
          <a:prstGeom prst="rect">
            <a:avLst/>
          </a:prstGeom>
        </p:spPr>
        <p:txBody>
          <a:bodyPr lIns="0" tIns="0" rIns="0" bIns="0" rtlCol="0" anchor="t">
            <a:spAutoFit/>
          </a:bodyPr>
          <a:lstStyle/>
          <a:p>
            <a:pPr algn="ctr">
              <a:lnSpc>
                <a:spcPts val="16206"/>
              </a:lnSpc>
              <a:spcBef>
                <a:spcPct val="0"/>
              </a:spcBef>
            </a:pPr>
            <a:r>
              <a:rPr lang="en-US" sz="11575" dirty="0">
                <a:solidFill>
                  <a:srgbClr val="A15C64"/>
                </a:solidFill>
                <a:latin typeface="Bobby Jones"/>
              </a:rPr>
              <a:t>Thank you</a:t>
            </a:r>
          </a:p>
        </p:txBody>
      </p:sp>
      <p:sp>
        <p:nvSpPr>
          <p:cNvPr id="13" name="TextBox 13"/>
          <p:cNvSpPr txBox="1"/>
          <p:nvPr/>
        </p:nvSpPr>
        <p:spPr>
          <a:xfrm>
            <a:off x="4343400" y="8518788"/>
            <a:ext cx="8735642" cy="1081065"/>
          </a:xfrm>
          <a:prstGeom prst="rect">
            <a:avLst/>
          </a:prstGeom>
        </p:spPr>
        <p:txBody>
          <a:bodyPr lIns="0" tIns="0" rIns="0" bIns="0" rtlCol="0" anchor="t">
            <a:spAutoFit/>
          </a:bodyPr>
          <a:lstStyle/>
          <a:p>
            <a:pPr algn="ctr">
              <a:lnSpc>
                <a:spcPts val="4200"/>
              </a:lnSpc>
              <a:spcBef>
                <a:spcPct val="0"/>
              </a:spcBef>
            </a:pPr>
            <a:r>
              <a:rPr lang="en-US" sz="5400" b="1" spc="150" dirty="0">
                <a:solidFill>
                  <a:srgbClr val="DB786C"/>
                </a:solidFill>
                <a:latin typeface="Handy Casual"/>
              </a:rPr>
              <a:t>Our team :  Jonathan</a:t>
            </a:r>
          </a:p>
          <a:p>
            <a:pPr algn="ctr">
              <a:lnSpc>
                <a:spcPts val="4200"/>
              </a:lnSpc>
              <a:spcBef>
                <a:spcPct val="0"/>
              </a:spcBef>
            </a:pPr>
            <a:r>
              <a:rPr lang="en-US" sz="5400" b="1" spc="150" dirty="0">
                <a:solidFill>
                  <a:srgbClr val="DB786C"/>
                </a:solidFill>
                <a:latin typeface="Handy Casual"/>
              </a:rPr>
              <a:t>Krupali, Nirali, Dhruv &amp; Shreyansh</a:t>
            </a:r>
          </a:p>
        </p:txBody>
      </p:sp>
      <p:sp>
        <p:nvSpPr>
          <p:cNvPr id="14" name="Freeform 10">
            <a:extLst>
              <a:ext uri="{FF2B5EF4-FFF2-40B4-BE49-F238E27FC236}">
                <a16:creationId xmlns:a16="http://schemas.microsoft.com/office/drawing/2014/main" id="{A2B3DBFA-ADE1-37EE-DCB6-CE79DD890372}"/>
              </a:ext>
            </a:extLst>
          </p:cNvPr>
          <p:cNvSpPr/>
          <p:nvPr/>
        </p:nvSpPr>
        <p:spPr>
          <a:xfrm>
            <a:off x="381000" y="8518788"/>
            <a:ext cx="2414918" cy="1267832"/>
          </a:xfrm>
          <a:custGeom>
            <a:avLst/>
            <a:gdLst/>
            <a:ahLst/>
            <a:cxnLst/>
            <a:rect l="l" t="t" r="r" b="b"/>
            <a:pathLst>
              <a:path w="2414918" h="1267832">
                <a:moveTo>
                  <a:pt x="0" y="0"/>
                </a:moveTo>
                <a:lnTo>
                  <a:pt x="2414917" y="0"/>
                </a:lnTo>
                <a:lnTo>
                  <a:pt x="2414917" y="1267832"/>
                </a:lnTo>
                <a:lnTo>
                  <a:pt x="0" y="12678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5" name="Freeform 8">
            <a:extLst>
              <a:ext uri="{FF2B5EF4-FFF2-40B4-BE49-F238E27FC236}">
                <a16:creationId xmlns:a16="http://schemas.microsoft.com/office/drawing/2014/main" id="{303D7E2C-BD99-1F10-5B84-AACB0632D747}"/>
              </a:ext>
            </a:extLst>
          </p:cNvPr>
          <p:cNvSpPr/>
          <p:nvPr/>
        </p:nvSpPr>
        <p:spPr>
          <a:xfrm rot="-9336815">
            <a:off x="-1182178" y="-2057401"/>
            <a:ext cx="2839212" cy="4114800"/>
          </a:xfrm>
          <a:custGeom>
            <a:avLst/>
            <a:gdLst/>
            <a:ahLst/>
            <a:cxnLst/>
            <a:rect l="l" t="t" r="r" b="b"/>
            <a:pathLst>
              <a:path w="2839212" h="4114800">
                <a:moveTo>
                  <a:pt x="0" y="0"/>
                </a:moveTo>
                <a:lnTo>
                  <a:pt x="2839212" y="0"/>
                </a:lnTo>
                <a:lnTo>
                  <a:pt x="2839212"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485</TotalTime>
  <Words>1102</Words>
  <Application>Microsoft Office PowerPoint</Application>
  <PresentationFormat>Custom</PresentationFormat>
  <Paragraphs>133</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Bobby Jones</vt:lpstr>
      <vt:lpstr>Calibri</vt:lpstr>
      <vt:lpstr>Handy Casual</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and Brown Minimalist Medical and Healthcare Presentation</dc:title>
  <cp:lastModifiedBy>Nirali Khirsaria</cp:lastModifiedBy>
  <cp:revision>7</cp:revision>
  <dcterms:created xsi:type="dcterms:W3CDTF">2006-08-16T00:00:00Z</dcterms:created>
  <dcterms:modified xsi:type="dcterms:W3CDTF">2025-12-18T18:46:37Z</dcterms:modified>
  <dc:identifier>DAGBsqZNees</dc:identifier>
</cp:coreProperties>
</file>